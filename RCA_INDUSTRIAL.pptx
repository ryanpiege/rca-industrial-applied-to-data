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2192000" cy="6858000"/>
  <p:notesSz cx="6858000" cy="9144000"/>
  <p:embeddedFontLst>
    <p:embeddedFont>
      <p:font typeface="Calibri (MS)" charset="1" panose="020F0502020204030204"/>
      <p:regular r:id="rId30"/>
    </p:embeddedFont>
    <p:embeddedFont>
      <p:font typeface="Segoe UI Bold" charset="1" panose="020B0802040204020203"/>
      <p:regular r:id="rId31"/>
    </p:embeddedFont>
    <p:embeddedFont>
      <p:font typeface="Segoe UI" charset="1" panose="020B0502040204020203"/>
      <p:regular r:id="rId32"/>
    </p:embeddedFont>
    <p:embeddedFont>
      <p:font typeface="Calibri (MS) Bold" charset="1" panose="020F0702030404030204"/>
      <p:regular r:id="rId33"/>
    </p:embeddedFont>
    <p:embeddedFont>
      <p:font typeface="Arial Bold" charset="1" panose="020B0704020202020204"/>
      <p:regular r:id="rId34"/>
    </p:embeddedFont>
    <p:embeddedFont>
      <p:font typeface="DejaVu Sans Light" charset="1" panose="020B0603030804020204"/>
      <p:regular r:id="rId35"/>
    </p:embeddedFont>
    <p:embeddedFont>
      <p:font typeface="DejaVu Sans Bold" charset="1" panose="020B0803030604020204"/>
      <p:regular r:id="rId36"/>
    </p:embeddedFont>
    <p:embeddedFont>
      <p:font typeface="Arimo" charset="1" panose="020B0604020202020204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17.png" Type="http://schemas.openxmlformats.org/officeDocument/2006/relationships/image"/><Relationship Id="rId15" Target="../media/image18.svg" Type="http://schemas.openxmlformats.org/officeDocument/2006/relationships/image"/><Relationship Id="rId16" Target="../media/image19.png" Type="http://schemas.openxmlformats.org/officeDocument/2006/relationships/image"/><Relationship Id="rId17" Target="../media/image20.svg" Type="http://schemas.openxmlformats.org/officeDocument/2006/relationships/image"/><Relationship Id="rId18" Target="../media/image21.png" Type="http://schemas.openxmlformats.org/officeDocument/2006/relationships/image"/><Relationship Id="rId19" Target="../media/image22.svg" Type="http://schemas.openxmlformats.org/officeDocument/2006/relationships/image"/><Relationship Id="rId2" Target="../media/image5.png" Type="http://schemas.openxmlformats.org/officeDocument/2006/relationships/image"/><Relationship Id="rId20" Target="../media/image23.png" Type="http://schemas.openxmlformats.org/officeDocument/2006/relationships/image"/><Relationship Id="rId21" Target="../media/image24.svg" Type="http://schemas.openxmlformats.org/officeDocument/2006/relationships/image"/><Relationship Id="rId22" Target="../media/image25.png" Type="http://schemas.openxmlformats.org/officeDocument/2006/relationships/image"/><Relationship Id="rId23" Target="../media/image26.svg" Type="http://schemas.openxmlformats.org/officeDocument/2006/relationships/image"/><Relationship Id="rId24" Target="../media/image27.png" Type="http://schemas.openxmlformats.org/officeDocument/2006/relationships/image"/><Relationship Id="rId25" Target="../media/image28.svg" Type="http://schemas.openxmlformats.org/officeDocument/2006/relationships/image"/><Relationship Id="rId26" Target="../media/image29.png" Type="http://schemas.openxmlformats.org/officeDocument/2006/relationships/image"/><Relationship Id="rId27" Target="../media/image30.svg" Type="http://schemas.openxmlformats.org/officeDocument/2006/relationships/image"/><Relationship Id="rId28" Target="../media/image31.png" Type="http://schemas.openxmlformats.org/officeDocument/2006/relationships/image"/><Relationship Id="rId29" Target="../media/image32.svg" Type="http://schemas.openxmlformats.org/officeDocument/2006/relationships/image"/><Relationship Id="rId3" Target="../media/image6.svg" Type="http://schemas.openxmlformats.org/officeDocument/2006/relationships/image"/><Relationship Id="rId30" Target="../media/image33.png" Type="http://schemas.openxmlformats.org/officeDocument/2006/relationships/image"/><Relationship Id="rId31" Target="../media/image34.svg" Type="http://schemas.openxmlformats.org/officeDocument/2006/relationships/image"/><Relationship Id="rId32" Target="../media/image35.png" Type="http://schemas.openxmlformats.org/officeDocument/2006/relationships/image"/><Relationship Id="rId33" Target="../media/image36.svg" Type="http://schemas.openxmlformats.org/officeDocument/2006/relationships/image"/><Relationship Id="rId34" Target="../media/image37.png" Type="http://schemas.openxmlformats.org/officeDocument/2006/relationships/image"/><Relationship Id="rId35" Target="../media/image38.svg" Type="http://schemas.openxmlformats.org/officeDocument/2006/relationships/image"/><Relationship Id="rId36" Target="../media/image39.png" Type="http://schemas.openxmlformats.org/officeDocument/2006/relationships/image"/><Relationship Id="rId37" Target="../media/image40.svg" Type="http://schemas.openxmlformats.org/officeDocument/2006/relationships/image"/><Relationship Id="rId38" Target="../media/image41.png" Type="http://schemas.openxmlformats.org/officeDocument/2006/relationships/image"/><Relationship Id="rId39" Target="../media/image42.svg" Type="http://schemas.openxmlformats.org/officeDocument/2006/relationships/image"/><Relationship Id="rId4" Target="../media/image7.svg" Type="http://schemas.openxmlformats.org/officeDocument/2006/relationships/image"/><Relationship Id="rId40" Target="../media/image43.png" Type="http://schemas.openxmlformats.org/officeDocument/2006/relationships/image"/><Relationship Id="rId41" Target="../media/image44.svg" Type="http://schemas.openxmlformats.org/officeDocument/2006/relationships/image"/><Relationship Id="rId42" Target="../media/image45.png" Type="http://schemas.openxmlformats.org/officeDocument/2006/relationships/image"/><Relationship Id="rId43" Target="../media/image46.svg" Type="http://schemas.openxmlformats.org/officeDocument/2006/relationships/image"/><Relationship Id="rId44" Target="../media/image47.svg" Type="http://schemas.openxmlformats.org/officeDocument/2006/relationships/image"/><Relationship Id="rId45" Target="../media/image48.png" Type="http://schemas.openxmlformats.org/officeDocument/2006/relationships/image"/><Relationship Id="rId46" Target="../media/image49.svg" Type="http://schemas.openxmlformats.org/officeDocument/2006/relationships/image"/><Relationship Id="rId47" Target="../media/image50.png" Type="http://schemas.openxmlformats.org/officeDocument/2006/relationships/image"/><Relationship Id="rId48" Target="../media/image51.svg" Type="http://schemas.openxmlformats.org/officeDocument/2006/relationships/image"/><Relationship Id="rId49" Target="../media/image52.png" Type="http://schemas.openxmlformats.org/officeDocument/2006/relationships/image"/><Relationship Id="rId5" Target="../media/image8.png" Type="http://schemas.openxmlformats.org/officeDocument/2006/relationships/image"/><Relationship Id="rId50" Target="../media/image53.svg" Type="http://schemas.openxmlformats.org/officeDocument/2006/relationships/image"/><Relationship Id="rId51" Target="../media/image54.png" Type="http://schemas.openxmlformats.org/officeDocument/2006/relationships/image"/><Relationship Id="rId52" Target="../media/image55.svg" Type="http://schemas.openxmlformats.org/officeDocument/2006/relationships/image"/><Relationship Id="rId53" Target="../media/image56.png" Type="http://schemas.openxmlformats.org/officeDocument/2006/relationships/image"/><Relationship Id="rId54" Target="../media/image57.svg" Type="http://schemas.openxmlformats.org/officeDocument/2006/relationships/image"/><Relationship Id="rId55" Target="../media/image58.png" Type="http://schemas.openxmlformats.org/officeDocument/2006/relationships/image"/><Relationship Id="rId56" Target="../media/image59.svg" Type="http://schemas.openxmlformats.org/officeDocument/2006/relationships/image"/><Relationship Id="rId57" Target="../media/image60.png" Type="http://schemas.openxmlformats.org/officeDocument/2006/relationships/image"/><Relationship Id="rId58" Target="../media/image61.svg" Type="http://schemas.openxmlformats.org/officeDocument/2006/relationships/image"/><Relationship Id="rId6" Target="../media/image9.sv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svg" Type="http://schemas.openxmlformats.org/officeDocument/2006/relationships/image"/><Relationship Id="rId11" Target="../media/image64.png" Type="http://schemas.openxmlformats.org/officeDocument/2006/relationships/image"/><Relationship Id="rId12" Target="../media/image65.svg" Type="http://schemas.openxmlformats.org/officeDocument/2006/relationships/image"/><Relationship Id="rId13" Target="../media/image66.jpe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svg" Type="http://schemas.openxmlformats.org/officeDocument/2006/relationships/image"/><Relationship Id="rId11" Target="../media/image67.png" Type="http://schemas.openxmlformats.org/officeDocument/2006/relationships/image"/><Relationship Id="rId12" Target="../media/image68.svg" Type="http://schemas.openxmlformats.org/officeDocument/2006/relationships/image"/><Relationship Id="rId13" Target="../media/image69.png" Type="http://schemas.openxmlformats.org/officeDocument/2006/relationships/image"/><Relationship Id="rId14" Target="../media/image70.png" Type="http://schemas.openxmlformats.org/officeDocument/2006/relationships/image"/><Relationship Id="rId15" Target="../media/image71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4.svg" Type="http://schemas.openxmlformats.org/officeDocument/2006/relationships/image"/><Relationship Id="rId11" Target="../media/image75.png" Type="http://schemas.openxmlformats.org/officeDocument/2006/relationships/image"/><Relationship Id="rId12" Target="../media/image76.svg" Type="http://schemas.openxmlformats.org/officeDocument/2006/relationships/image"/><Relationship Id="rId13" Target="../media/image77.png" Type="http://schemas.openxmlformats.org/officeDocument/2006/relationships/image"/><Relationship Id="rId14" Target="../media/image70.png" Type="http://schemas.openxmlformats.org/officeDocument/2006/relationships/image"/><Relationship Id="rId15" Target="../media/image71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72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7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4.svg" Type="http://schemas.openxmlformats.org/officeDocument/2006/relationships/image"/><Relationship Id="rId11" Target="../media/image75.png" Type="http://schemas.openxmlformats.org/officeDocument/2006/relationships/image"/><Relationship Id="rId12" Target="../media/image76.svg" Type="http://schemas.openxmlformats.org/officeDocument/2006/relationships/image"/><Relationship Id="rId13" Target="../media/image78.png" Type="http://schemas.openxmlformats.org/officeDocument/2006/relationships/image"/><Relationship Id="rId14" Target="../media/image79.svg" Type="http://schemas.openxmlformats.org/officeDocument/2006/relationships/image"/><Relationship Id="rId15" Target="../media/image80.png" Type="http://schemas.openxmlformats.org/officeDocument/2006/relationships/image"/><Relationship Id="rId16" Target="../media/image81.svg" Type="http://schemas.openxmlformats.org/officeDocument/2006/relationships/image"/><Relationship Id="rId17" Target="../media/image82.png" Type="http://schemas.openxmlformats.org/officeDocument/2006/relationships/image"/><Relationship Id="rId18" Target="../media/image83.svg" Type="http://schemas.openxmlformats.org/officeDocument/2006/relationships/image"/><Relationship Id="rId19" Target="../media/image84.png" Type="http://schemas.openxmlformats.org/officeDocument/2006/relationships/image"/><Relationship Id="rId2" Target="../media/image5.png" Type="http://schemas.openxmlformats.org/officeDocument/2006/relationships/image"/><Relationship Id="rId20" Target="../media/image85.svg" Type="http://schemas.openxmlformats.org/officeDocument/2006/relationships/image"/><Relationship Id="rId21" Target="../media/image86.png" Type="http://schemas.openxmlformats.org/officeDocument/2006/relationships/image"/><Relationship Id="rId22" Target="../media/image87.png" Type="http://schemas.openxmlformats.org/officeDocument/2006/relationships/image"/><Relationship Id="rId23" Target="../media/image88.png" Type="http://schemas.openxmlformats.org/officeDocument/2006/relationships/image"/><Relationship Id="rId24" Target="../media/image89.png" Type="http://schemas.openxmlformats.org/officeDocument/2006/relationships/image"/><Relationship Id="rId25" Target="../media/image90.png" Type="http://schemas.openxmlformats.org/officeDocument/2006/relationships/image"/><Relationship Id="rId26" Target="../media/image91.png" Type="http://schemas.openxmlformats.org/officeDocument/2006/relationships/image"/><Relationship Id="rId27" Target="../media/image92.png" Type="http://schemas.openxmlformats.org/officeDocument/2006/relationships/image"/><Relationship Id="rId28" Target="../media/image93.png" Type="http://schemas.openxmlformats.org/officeDocument/2006/relationships/image"/><Relationship Id="rId29" Target="../media/image94.png" Type="http://schemas.openxmlformats.org/officeDocument/2006/relationships/image"/><Relationship Id="rId3" Target="../media/image6.svg" Type="http://schemas.openxmlformats.org/officeDocument/2006/relationships/image"/><Relationship Id="rId30" Target="../media/image95.svg" Type="http://schemas.openxmlformats.org/officeDocument/2006/relationships/image"/><Relationship Id="rId31" Target="../media/image96.png" Type="http://schemas.openxmlformats.org/officeDocument/2006/relationships/image"/><Relationship Id="rId32" Target="../media/image97.sv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72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7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4.svg" Type="http://schemas.openxmlformats.org/officeDocument/2006/relationships/image"/><Relationship Id="rId11" Target="../media/image75.png" Type="http://schemas.openxmlformats.org/officeDocument/2006/relationships/image"/><Relationship Id="rId12" Target="../media/image76.svg" Type="http://schemas.openxmlformats.org/officeDocument/2006/relationships/image"/><Relationship Id="rId13" Target="../media/image98.png" Type="http://schemas.openxmlformats.org/officeDocument/2006/relationships/image"/><Relationship Id="rId14" Target="../media/image70.png" Type="http://schemas.openxmlformats.org/officeDocument/2006/relationships/image"/><Relationship Id="rId15" Target="../media/image71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72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7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4.svg" Type="http://schemas.openxmlformats.org/officeDocument/2006/relationships/image"/><Relationship Id="rId11" Target="../media/image75.png" Type="http://schemas.openxmlformats.org/officeDocument/2006/relationships/image"/><Relationship Id="rId12" Target="../media/image76.svg" Type="http://schemas.openxmlformats.org/officeDocument/2006/relationships/image"/><Relationship Id="rId13" Target="../media/image99.png" Type="http://schemas.openxmlformats.org/officeDocument/2006/relationships/image"/><Relationship Id="rId14" Target="../media/image100.svg" Type="http://schemas.openxmlformats.org/officeDocument/2006/relationships/image"/><Relationship Id="rId15" Target="../media/image101.png" Type="http://schemas.openxmlformats.org/officeDocument/2006/relationships/image"/><Relationship Id="rId16" Target="../media/image102.svg" Type="http://schemas.openxmlformats.org/officeDocument/2006/relationships/image"/><Relationship Id="rId17" Target="../media/image103.svg" Type="http://schemas.openxmlformats.org/officeDocument/2006/relationships/image"/><Relationship Id="rId18" Target="../media/image104.png" Type="http://schemas.openxmlformats.org/officeDocument/2006/relationships/image"/><Relationship Id="rId19" Target="../media/image105.svg" Type="http://schemas.openxmlformats.org/officeDocument/2006/relationships/image"/><Relationship Id="rId2" Target="../media/image5.png" Type="http://schemas.openxmlformats.org/officeDocument/2006/relationships/image"/><Relationship Id="rId20" Target="../media/image106.svg" Type="http://schemas.openxmlformats.org/officeDocument/2006/relationships/image"/><Relationship Id="rId21" Target="../media/image107.svg" Type="http://schemas.openxmlformats.org/officeDocument/2006/relationships/image"/><Relationship Id="rId22" Target="../media/image108.png" Type="http://schemas.openxmlformats.org/officeDocument/2006/relationships/image"/><Relationship Id="rId23" Target="../media/image109.png" Type="http://schemas.openxmlformats.org/officeDocument/2006/relationships/image"/><Relationship Id="rId24" Target="../media/image110.png" Type="http://schemas.openxmlformats.org/officeDocument/2006/relationships/image"/><Relationship Id="rId25" Target="../media/image111.png" Type="http://schemas.openxmlformats.org/officeDocument/2006/relationships/image"/><Relationship Id="rId26" Target="../media/image112.png" Type="http://schemas.openxmlformats.org/officeDocument/2006/relationships/image"/><Relationship Id="rId27" Target="../media/image113.png" Type="http://schemas.openxmlformats.org/officeDocument/2006/relationships/image"/><Relationship Id="rId28" Target="../media/image114.png" Type="http://schemas.openxmlformats.org/officeDocument/2006/relationships/image"/><Relationship Id="rId29" Target="../media/image115.png" Type="http://schemas.openxmlformats.org/officeDocument/2006/relationships/image"/><Relationship Id="rId3" Target="../media/image6.svg" Type="http://schemas.openxmlformats.org/officeDocument/2006/relationships/image"/><Relationship Id="rId30" Target="../media/image116.svg" Type="http://schemas.openxmlformats.org/officeDocument/2006/relationships/image"/><Relationship Id="rId31" Target="../media/image96.png" Type="http://schemas.openxmlformats.org/officeDocument/2006/relationships/image"/><Relationship Id="rId32" Target="../media/image97.sv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72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7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9.png" Type="http://schemas.openxmlformats.org/officeDocument/2006/relationships/image"/><Relationship Id="rId11" Target="../media/image120.svg" Type="http://schemas.openxmlformats.org/officeDocument/2006/relationships/image"/><Relationship Id="rId2" Target="../media/image8.png" Type="http://schemas.openxmlformats.org/officeDocument/2006/relationships/image"/><Relationship Id="rId3" Target="../media/image72.svg" Type="http://schemas.openxmlformats.org/officeDocument/2006/relationships/image"/><Relationship Id="rId4" Target="../media/image9.sv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17.png" Type="http://schemas.openxmlformats.org/officeDocument/2006/relationships/image"/><Relationship Id="rId9" Target="../media/image11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1.png" Type="http://schemas.openxmlformats.org/officeDocument/2006/relationships/image"/><Relationship Id="rId11" Target="../media/image122.svg" Type="http://schemas.openxmlformats.org/officeDocument/2006/relationships/image"/><Relationship Id="rId2" Target="../media/image8.png" Type="http://schemas.openxmlformats.org/officeDocument/2006/relationships/image"/><Relationship Id="rId3" Target="../media/image72.svg" Type="http://schemas.openxmlformats.org/officeDocument/2006/relationships/image"/><Relationship Id="rId4" Target="../media/image9.sv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17.png" Type="http://schemas.openxmlformats.org/officeDocument/2006/relationships/image"/><Relationship Id="rId9" Target="../media/image11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23.png" Type="http://schemas.openxmlformats.org/officeDocument/2006/relationships/image"/><Relationship Id="rId13" Target="../media/image124.svg" Type="http://schemas.openxmlformats.org/officeDocument/2006/relationships/image"/><Relationship Id="rId2" Target="../media/image8.png" Type="http://schemas.openxmlformats.org/officeDocument/2006/relationships/image"/><Relationship Id="rId3" Target="../media/image72.svg" Type="http://schemas.openxmlformats.org/officeDocument/2006/relationships/image"/><Relationship Id="rId4" Target="../media/image9.sv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17.png" Type="http://schemas.openxmlformats.org/officeDocument/2006/relationships/image"/><Relationship Id="rId9" Target="../media/image11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5.png" Type="http://schemas.openxmlformats.org/officeDocument/2006/relationships/image"/><Relationship Id="rId11" Target="../media/image126.svg" Type="http://schemas.openxmlformats.org/officeDocument/2006/relationships/image"/><Relationship Id="rId2" Target="../media/image8.png" Type="http://schemas.openxmlformats.org/officeDocument/2006/relationships/image"/><Relationship Id="rId3" Target="../media/image72.svg" Type="http://schemas.openxmlformats.org/officeDocument/2006/relationships/image"/><Relationship Id="rId4" Target="../media/image9.sv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17.png" Type="http://schemas.openxmlformats.org/officeDocument/2006/relationships/image"/><Relationship Id="rId9" Target="../media/image11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7.png" Type="http://schemas.openxmlformats.org/officeDocument/2006/relationships/image"/><Relationship Id="rId11" Target="../media/image128.svg" Type="http://schemas.openxmlformats.org/officeDocument/2006/relationships/image"/><Relationship Id="rId2" Target="../media/image8.png" Type="http://schemas.openxmlformats.org/officeDocument/2006/relationships/image"/><Relationship Id="rId3" Target="../media/image72.svg" Type="http://schemas.openxmlformats.org/officeDocument/2006/relationships/image"/><Relationship Id="rId4" Target="../media/image9.sv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17.png" Type="http://schemas.openxmlformats.org/officeDocument/2006/relationships/image"/><Relationship Id="rId9" Target="../media/image11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9.png" Type="http://schemas.openxmlformats.org/officeDocument/2006/relationships/image"/><Relationship Id="rId11" Target="../media/image130.svg" Type="http://schemas.openxmlformats.org/officeDocument/2006/relationships/image"/><Relationship Id="rId2" Target="../media/image8.png" Type="http://schemas.openxmlformats.org/officeDocument/2006/relationships/image"/><Relationship Id="rId3" Target="../media/image72.svg" Type="http://schemas.openxmlformats.org/officeDocument/2006/relationships/image"/><Relationship Id="rId4" Target="../media/image9.sv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17.png" Type="http://schemas.openxmlformats.org/officeDocument/2006/relationships/image"/><Relationship Id="rId9" Target="../media/image11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31.png" Type="http://schemas.openxmlformats.org/officeDocument/2006/relationships/image"/><Relationship Id="rId13" Target="../media/image132.svg" Type="http://schemas.openxmlformats.org/officeDocument/2006/relationships/image"/><Relationship Id="rId2" Target="../media/image8.png" Type="http://schemas.openxmlformats.org/officeDocument/2006/relationships/image"/><Relationship Id="rId3" Target="../media/image72.svg" Type="http://schemas.openxmlformats.org/officeDocument/2006/relationships/image"/><Relationship Id="rId4" Target="../media/image9.sv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17.png" Type="http://schemas.openxmlformats.org/officeDocument/2006/relationships/image"/><Relationship Id="rId9" Target="../media/image11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5.png" Type="http://schemas.openxmlformats.org/officeDocument/2006/relationships/image"/><Relationship Id="rId11" Target="../media/image136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8.png" Type="http://schemas.openxmlformats.org/officeDocument/2006/relationships/image"/><Relationship Id="rId5" Target="../media/image72.svg" Type="http://schemas.openxmlformats.org/officeDocument/2006/relationships/image"/><Relationship Id="rId6" Target="../media/image9.svg" Type="http://schemas.openxmlformats.org/officeDocument/2006/relationships/image"/><Relationship Id="rId7" Target="../media/image10.svg" Type="http://schemas.openxmlformats.org/officeDocument/2006/relationships/image"/><Relationship Id="rId8" Target="../media/image133.png" Type="http://schemas.openxmlformats.org/officeDocument/2006/relationships/image"/><Relationship Id="rId9" Target="../media/image13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9.png" Type="http://schemas.openxmlformats.org/officeDocument/2006/relationships/image"/><Relationship Id="rId11" Target="../media/image140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8.png" Type="http://schemas.openxmlformats.org/officeDocument/2006/relationships/image"/><Relationship Id="rId5" Target="../media/image72.svg" Type="http://schemas.openxmlformats.org/officeDocument/2006/relationships/image"/><Relationship Id="rId6" Target="../media/image9.svg" Type="http://schemas.openxmlformats.org/officeDocument/2006/relationships/image"/><Relationship Id="rId7" Target="../media/image10.svg" Type="http://schemas.openxmlformats.org/officeDocument/2006/relationships/image"/><Relationship Id="rId8" Target="../media/image137.png" Type="http://schemas.openxmlformats.org/officeDocument/2006/relationships/image"/><Relationship Id="rId9" Target="../media/image13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1.png" Type="http://schemas.openxmlformats.org/officeDocument/2006/relationships/image"/><Relationship Id="rId11" Target="../media/image142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8.png" Type="http://schemas.openxmlformats.org/officeDocument/2006/relationships/image"/><Relationship Id="rId5" Target="../media/image72.svg" Type="http://schemas.openxmlformats.org/officeDocument/2006/relationships/image"/><Relationship Id="rId6" Target="../media/image9.svg" Type="http://schemas.openxmlformats.org/officeDocument/2006/relationships/image"/><Relationship Id="rId7" Target="../media/image10.svg" Type="http://schemas.openxmlformats.org/officeDocument/2006/relationships/image"/><Relationship Id="rId8" Target="../media/image137.png" Type="http://schemas.openxmlformats.org/officeDocument/2006/relationships/image"/><Relationship Id="rId9" Target="../media/image138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3.png" Type="http://schemas.openxmlformats.org/officeDocument/2006/relationships/image"/><Relationship Id="rId3" Target="../media/image144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3.png" Type="http://schemas.openxmlformats.org/officeDocument/2006/relationships/image"/><Relationship Id="rId11" Target="../media/image154.svg" Type="http://schemas.openxmlformats.org/officeDocument/2006/relationships/image"/><Relationship Id="rId12" Target="../media/image155.png" Type="http://schemas.openxmlformats.org/officeDocument/2006/relationships/image"/><Relationship Id="rId13" Target="../media/image156.svg" Type="http://schemas.openxmlformats.org/officeDocument/2006/relationships/image"/><Relationship Id="rId14" Target="../media/image157.png" Type="http://schemas.openxmlformats.org/officeDocument/2006/relationships/image"/><Relationship Id="rId15" Target="../media/image158.svg" Type="http://schemas.openxmlformats.org/officeDocument/2006/relationships/image"/><Relationship Id="rId16" Target="../media/image159.svg" Type="http://schemas.openxmlformats.org/officeDocument/2006/relationships/image"/><Relationship Id="rId17" Target="../media/image160.svg" Type="http://schemas.openxmlformats.org/officeDocument/2006/relationships/image"/><Relationship Id="rId18" Target="../media/image161.svg" Type="http://schemas.openxmlformats.org/officeDocument/2006/relationships/image"/><Relationship Id="rId19" Target="../media/image162.svg" Type="http://schemas.openxmlformats.org/officeDocument/2006/relationships/image"/><Relationship Id="rId2" Target="../media/image145.png" Type="http://schemas.openxmlformats.org/officeDocument/2006/relationships/image"/><Relationship Id="rId20" Target="../media/image163.svg" Type="http://schemas.openxmlformats.org/officeDocument/2006/relationships/image"/><Relationship Id="rId21" Target="../media/image164.png" Type="http://schemas.openxmlformats.org/officeDocument/2006/relationships/image"/><Relationship Id="rId22" Target="../media/image165.svg" Type="http://schemas.openxmlformats.org/officeDocument/2006/relationships/image"/><Relationship Id="rId3" Target="../media/image146.svg" Type="http://schemas.openxmlformats.org/officeDocument/2006/relationships/image"/><Relationship Id="rId4" Target="../media/image147.svg" Type="http://schemas.openxmlformats.org/officeDocument/2006/relationships/image"/><Relationship Id="rId5" Target="../media/image148.svg" Type="http://schemas.openxmlformats.org/officeDocument/2006/relationships/image"/><Relationship Id="rId6" Target="../media/image149.svg" Type="http://schemas.openxmlformats.org/officeDocument/2006/relationships/image"/><Relationship Id="rId7" Target="../media/image150.svg" Type="http://schemas.openxmlformats.org/officeDocument/2006/relationships/image"/><Relationship Id="rId8" Target="../media/image151.svg" Type="http://schemas.openxmlformats.org/officeDocument/2006/relationships/image"/><Relationship Id="rId9" Target="../media/image152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3.png" Type="http://schemas.openxmlformats.org/officeDocument/2006/relationships/image"/><Relationship Id="rId11" Target="../media/image154.svg" Type="http://schemas.openxmlformats.org/officeDocument/2006/relationships/image"/><Relationship Id="rId12" Target="../media/image166.png" Type="http://schemas.openxmlformats.org/officeDocument/2006/relationships/image"/><Relationship Id="rId13" Target="../media/image167.svg" Type="http://schemas.openxmlformats.org/officeDocument/2006/relationships/image"/><Relationship Id="rId2" Target="../media/image145.png" Type="http://schemas.openxmlformats.org/officeDocument/2006/relationships/image"/><Relationship Id="rId3" Target="../media/image146.svg" Type="http://schemas.openxmlformats.org/officeDocument/2006/relationships/image"/><Relationship Id="rId4" Target="../media/image147.svg" Type="http://schemas.openxmlformats.org/officeDocument/2006/relationships/image"/><Relationship Id="rId5" Target="../media/image148.svg" Type="http://schemas.openxmlformats.org/officeDocument/2006/relationships/image"/><Relationship Id="rId6" Target="../media/image149.svg" Type="http://schemas.openxmlformats.org/officeDocument/2006/relationships/image"/><Relationship Id="rId7" Target="../media/image150.svg" Type="http://schemas.openxmlformats.org/officeDocument/2006/relationships/image"/><Relationship Id="rId8" Target="../media/image151.svg" Type="http://schemas.openxmlformats.org/officeDocument/2006/relationships/image"/><Relationship Id="rId9" Target="../media/image152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3.png" Type="http://schemas.openxmlformats.org/officeDocument/2006/relationships/image"/><Relationship Id="rId11" Target="../media/image154.svg" Type="http://schemas.openxmlformats.org/officeDocument/2006/relationships/image"/><Relationship Id="rId12" Target="../media/image168.png" Type="http://schemas.openxmlformats.org/officeDocument/2006/relationships/image"/><Relationship Id="rId13" Target="../media/image169.svg" Type="http://schemas.openxmlformats.org/officeDocument/2006/relationships/image"/><Relationship Id="rId14" Target="../media/image170.png" Type="http://schemas.openxmlformats.org/officeDocument/2006/relationships/image"/><Relationship Id="rId15" Target="../media/image171.svg" Type="http://schemas.openxmlformats.org/officeDocument/2006/relationships/image"/><Relationship Id="rId2" Target="../media/image145.png" Type="http://schemas.openxmlformats.org/officeDocument/2006/relationships/image"/><Relationship Id="rId3" Target="../media/image146.svg" Type="http://schemas.openxmlformats.org/officeDocument/2006/relationships/image"/><Relationship Id="rId4" Target="../media/image147.svg" Type="http://schemas.openxmlformats.org/officeDocument/2006/relationships/image"/><Relationship Id="rId5" Target="../media/image148.svg" Type="http://schemas.openxmlformats.org/officeDocument/2006/relationships/image"/><Relationship Id="rId6" Target="../media/image149.svg" Type="http://schemas.openxmlformats.org/officeDocument/2006/relationships/image"/><Relationship Id="rId7" Target="../media/image150.svg" Type="http://schemas.openxmlformats.org/officeDocument/2006/relationships/image"/><Relationship Id="rId8" Target="../media/image151.svg" Type="http://schemas.openxmlformats.org/officeDocument/2006/relationships/image"/><Relationship Id="rId9" Target="../media/image152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3.png" Type="http://schemas.openxmlformats.org/officeDocument/2006/relationships/image"/><Relationship Id="rId11" Target="../media/image154.svg" Type="http://schemas.openxmlformats.org/officeDocument/2006/relationships/image"/><Relationship Id="rId12" Target="../media/image172.png" Type="http://schemas.openxmlformats.org/officeDocument/2006/relationships/image"/><Relationship Id="rId13" Target="../media/image173.svg" Type="http://schemas.openxmlformats.org/officeDocument/2006/relationships/image"/><Relationship Id="rId2" Target="../media/image145.png" Type="http://schemas.openxmlformats.org/officeDocument/2006/relationships/image"/><Relationship Id="rId3" Target="../media/image146.svg" Type="http://schemas.openxmlformats.org/officeDocument/2006/relationships/image"/><Relationship Id="rId4" Target="../media/image147.svg" Type="http://schemas.openxmlformats.org/officeDocument/2006/relationships/image"/><Relationship Id="rId5" Target="../media/image148.svg" Type="http://schemas.openxmlformats.org/officeDocument/2006/relationships/image"/><Relationship Id="rId6" Target="../media/image149.svg" Type="http://schemas.openxmlformats.org/officeDocument/2006/relationships/image"/><Relationship Id="rId7" Target="../media/image150.svg" Type="http://schemas.openxmlformats.org/officeDocument/2006/relationships/image"/><Relationship Id="rId8" Target="../media/image151.svg" Type="http://schemas.openxmlformats.org/officeDocument/2006/relationships/image"/><Relationship Id="rId9" Target="../media/image152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4.png" Type="http://schemas.openxmlformats.org/officeDocument/2006/relationships/image"/><Relationship Id="rId3" Target="../media/image175.jpeg" Type="http://schemas.openxmlformats.org/officeDocument/2006/relationships/image"/><Relationship Id="rId4" Target="../media/image176.png" Type="http://schemas.openxmlformats.org/officeDocument/2006/relationships/image"/><Relationship Id="rId5" Target="../media/image177.png" Type="http://schemas.openxmlformats.org/officeDocument/2006/relationships/image"/><Relationship Id="rId6" Target="../media/image178.png" Type="http://schemas.openxmlformats.org/officeDocument/2006/relationships/image"/><Relationship Id="rId7" Target="../media/image179.png" Type="http://schemas.openxmlformats.org/officeDocument/2006/relationships/image"/><Relationship Id="rId8" Target="../media/image180.png" Type="http://schemas.openxmlformats.org/officeDocument/2006/relationships/image"/><Relationship Id="rId9" Target="../media/image18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-63056"/>
            <a:ext cx="12318444" cy="6984673"/>
            <a:chOff x="0" y="0"/>
            <a:chExt cx="12318454" cy="6984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795643" y="63500"/>
              <a:ext cx="3458592" cy="6851263"/>
            </a:xfrm>
            <a:custGeom>
              <a:avLst/>
              <a:gdLst/>
              <a:ahLst/>
              <a:cxnLst/>
              <a:rect r="r" b="b" t="t" l="l"/>
              <a:pathLst>
                <a:path h="6851263" w="3458592">
                  <a:moveTo>
                    <a:pt x="1520952" y="0"/>
                  </a:moveTo>
                  <a:cubicBezTo>
                    <a:pt x="1313307" y="1366773"/>
                    <a:pt x="779018" y="2627374"/>
                    <a:pt x="0" y="3697856"/>
                  </a:cubicBezTo>
                  <a:lnTo>
                    <a:pt x="3458592" y="6851263"/>
                  </a:lnTo>
                  <a:lnTo>
                    <a:pt x="3458592" y="0"/>
                  </a:lnTo>
                  <a:close/>
                </a:path>
              </a:pathLst>
            </a:custGeom>
            <a:solidFill>
              <a:srgbClr val="00E5B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738880" y="63500"/>
              <a:ext cx="5577715" cy="3697982"/>
            </a:xfrm>
            <a:custGeom>
              <a:avLst/>
              <a:gdLst/>
              <a:ahLst/>
              <a:cxnLst/>
              <a:rect r="r" b="b" t="t" l="l"/>
              <a:pathLst>
                <a:path h="3697982" w="5577715">
                  <a:moveTo>
                    <a:pt x="0" y="0"/>
                  </a:moveTo>
                  <a:lnTo>
                    <a:pt x="4056763" y="3697982"/>
                  </a:lnTo>
                  <a:cubicBezTo>
                    <a:pt x="4835781" y="2627501"/>
                    <a:pt x="5369943" y="1367027"/>
                    <a:pt x="5577715" y="0"/>
                  </a:cubicBezTo>
                  <a:close/>
                </a:path>
              </a:pathLst>
            </a:custGeom>
            <a:solidFill>
              <a:srgbClr val="00CC66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308985" y="3761482"/>
              <a:ext cx="7945376" cy="3159504"/>
            </a:xfrm>
            <a:custGeom>
              <a:avLst/>
              <a:gdLst/>
              <a:ahLst/>
              <a:cxnLst/>
              <a:rect r="r" b="b" t="t" l="l"/>
              <a:pathLst>
                <a:path h="3159504" w="7945376">
                  <a:moveTo>
                    <a:pt x="4486658" y="0"/>
                  </a:moveTo>
                  <a:cubicBezTo>
                    <a:pt x="3395727" y="1500123"/>
                    <a:pt x="1825244" y="2628390"/>
                    <a:pt x="0" y="3159504"/>
                  </a:cubicBezTo>
                  <a:lnTo>
                    <a:pt x="7945376" y="3159504"/>
                  </a:lnTo>
                  <a:lnTo>
                    <a:pt x="7945376" y="3152900"/>
                  </a:lnTo>
                  <a:lnTo>
                    <a:pt x="4486658" y="0"/>
                  </a:lnTo>
                  <a:close/>
                </a:path>
              </a:pathLst>
            </a:custGeom>
            <a:solidFill>
              <a:srgbClr val="0072D8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8732143" cy="6857486"/>
            </a:xfrm>
            <a:custGeom>
              <a:avLst/>
              <a:gdLst/>
              <a:ahLst/>
              <a:cxnLst/>
              <a:rect r="r" b="b" t="t" l="l"/>
              <a:pathLst>
                <a:path h="6857486" w="8732143">
                  <a:moveTo>
                    <a:pt x="0" y="0"/>
                  </a:moveTo>
                  <a:lnTo>
                    <a:pt x="0" y="6857486"/>
                  </a:lnTo>
                  <a:lnTo>
                    <a:pt x="4245485" y="6857486"/>
                  </a:lnTo>
                  <a:cubicBezTo>
                    <a:pt x="6070729" y="6326372"/>
                    <a:pt x="7641212" y="5198105"/>
                    <a:pt x="8732143" y="3697982"/>
                  </a:cubicBezTo>
                  <a:lnTo>
                    <a:pt x="4674872" y="0"/>
                  </a:lnTo>
                  <a:close/>
                </a:path>
              </a:pathLst>
            </a:custGeom>
            <a:solidFill>
              <a:srgbClr val="03267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19456" y="154391"/>
            <a:ext cx="2278123" cy="532800"/>
            <a:chOff x="0" y="0"/>
            <a:chExt cx="3037497" cy="710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37459" cy="710438"/>
            </a:xfrm>
            <a:custGeom>
              <a:avLst/>
              <a:gdLst/>
              <a:ahLst/>
              <a:cxnLst/>
              <a:rect r="r" b="b" t="t" l="l"/>
              <a:pathLst>
                <a:path h="710438" w="3037459">
                  <a:moveTo>
                    <a:pt x="0" y="0"/>
                  </a:moveTo>
                  <a:lnTo>
                    <a:pt x="3037459" y="0"/>
                  </a:lnTo>
                  <a:lnTo>
                    <a:pt x="3037459" y="710438"/>
                  </a:lnTo>
                  <a:lnTo>
                    <a:pt x="0" y="710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" b="5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401507" y="2573655"/>
            <a:ext cx="10921937" cy="9525"/>
          </a:xfrm>
          <a:custGeom>
            <a:avLst/>
            <a:gdLst/>
            <a:ahLst/>
            <a:cxnLst/>
            <a:rect r="r" b="b" t="t" l="l"/>
            <a:pathLst>
              <a:path h="9525" w="10921937">
                <a:moveTo>
                  <a:pt x="0" y="0"/>
                </a:moveTo>
                <a:lnTo>
                  <a:pt x="10921937" y="0"/>
                </a:lnTo>
                <a:lnTo>
                  <a:pt x="10921937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01507" y="5621607"/>
            <a:ext cx="10921937" cy="9525"/>
          </a:xfrm>
          <a:custGeom>
            <a:avLst/>
            <a:gdLst/>
            <a:ahLst/>
            <a:cxnLst/>
            <a:rect r="r" b="b" t="t" l="l"/>
            <a:pathLst>
              <a:path h="9525" w="10921937">
                <a:moveTo>
                  <a:pt x="0" y="0"/>
                </a:moveTo>
                <a:lnTo>
                  <a:pt x="10921937" y="0"/>
                </a:lnTo>
                <a:lnTo>
                  <a:pt x="10921937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16052" y="687067"/>
            <a:ext cx="1497902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Projeto Cerrado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6052" y="1880626"/>
            <a:ext cx="8476526" cy="197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8"/>
              </a:lnSpc>
            </a:pPr>
            <a:r>
              <a:rPr lang="en-US" b="true" sz="2798" spc="291">
                <a:solidFill>
                  <a:srgbClr val="FFFFFF"/>
                </a:solidFill>
                <a:latin typeface="Segoe UI Bold"/>
                <a:ea typeface="Segoe UI Bold"/>
                <a:cs typeface="Segoe UI Bold"/>
                <a:sym typeface="Segoe UI Bold"/>
              </a:rPr>
              <a:t>ANÁLISE DE FALHAS – FAIXA 2</a:t>
            </a:r>
          </a:p>
          <a:p>
            <a:pPr algn="l">
              <a:lnSpc>
                <a:spcPts val="4924"/>
              </a:lnSpc>
            </a:pPr>
            <a:r>
              <a:rPr lang="en-US" sz="360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Equipamento (TAG) - Cortadeiras L1 e L2 Análise de Instabilidade e Rejeições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6052" y="5720096"/>
            <a:ext cx="5320217" cy="780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b="true" sz="2004">
                <a:solidFill>
                  <a:srgbClr val="FFFFFF"/>
                </a:solidFill>
                <a:latin typeface="Segoe UI Bold"/>
                <a:ea typeface="Segoe UI Bold"/>
                <a:cs typeface="Segoe UI Bold"/>
                <a:sym typeface="Segoe UI Bold"/>
              </a:rPr>
              <a:t>Período Analisado: Janeiro à Agosto / 2025 AF n° xxxxxx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795" y="2471166"/>
            <a:ext cx="335899" cy="457924"/>
          </a:xfrm>
          <a:custGeom>
            <a:avLst/>
            <a:gdLst/>
            <a:ahLst/>
            <a:cxnLst/>
            <a:rect r="r" b="b" t="t" l="l"/>
            <a:pathLst>
              <a:path h="457924" w="335899">
                <a:moveTo>
                  <a:pt x="0" y="0"/>
                </a:moveTo>
                <a:lnTo>
                  <a:pt x="335899" y="0"/>
                </a:lnTo>
                <a:lnTo>
                  <a:pt x="335899" y="457924"/>
                </a:lnTo>
                <a:lnTo>
                  <a:pt x="0" y="457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7795" y="3106169"/>
            <a:ext cx="335899" cy="457924"/>
          </a:xfrm>
          <a:custGeom>
            <a:avLst/>
            <a:gdLst/>
            <a:ahLst/>
            <a:cxnLst/>
            <a:rect r="r" b="b" t="t" l="l"/>
            <a:pathLst>
              <a:path h="457924" w="335899">
                <a:moveTo>
                  <a:pt x="0" y="0"/>
                </a:moveTo>
                <a:lnTo>
                  <a:pt x="335899" y="0"/>
                </a:lnTo>
                <a:lnTo>
                  <a:pt x="335899" y="457924"/>
                </a:lnTo>
                <a:lnTo>
                  <a:pt x="0" y="457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7795" y="1201169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7795" y="1836163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292" y="3677669"/>
            <a:ext cx="462905" cy="1139533"/>
          </a:xfrm>
          <a:custGeom>
            <a:avLst/>
            <a:gdLst/>
            <a:ahLst/>
            <a:cxnLst/>
            <a:rect r="r" b="b" t="t" l="l"/>
            <a:pathLst>
              <a:path h="1139533" w="462905">
                <a:moveTo>
                  <a:pt x="0" y="0"/>
                </a:moveTo>
                <a:lnTo>
                  <a:pt x="462905" y="0"/>
                </a:lnTo>
                <a:lnTo>
                  <a:pt x="462905" y="1139533"/>
                </a:lnTo>
                <a:lnTo>
                  <a:pt x="0" y="11395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4292" y="396364"/>
            <a:ext cx="1742856" cy="727710"/>
          </a:xfrm>
          <a:custGeom>
            <a:avLst/>
            <a:gdLst/>
            <a:ahLst/>
            <a:cxnLst/>
            <a:rect r="r" b="b" t="t" l="l"/>
            <a:pathLst>
              <a:path h="727710" w="1742856">
                <a:moveTo>
                  <a:pt x="0" y="0"/>
                </a:moveTo>
                <a:lnTo>
                  <a:pt x="1742856" y="0"/>
                </a:lnTo>
                <a:lnTo>
                  <a:pt x="1742856" y="727710"/>
                </a:lnTo>
                <a:lnTo>
                  <a:pt x="0" y="7277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78085" y="0"/>
            <a:ext cx="28575" cy="6858000"/>
          </a:xfrm>
          <a:custGeom>
            <a:avLst/>
            <a:gdLst/>
            <a:ahLst/>
            <a:cxnLst/>
            <a:rect r="r" b="b" t="t" l="l"/>
            <a:pathLst>
              <a:path h="6858000" w="28575">
                <a:moveTo>
                  <a:pt x="0" y="0"/>
                </a:moveTo>
                <a:lnTo>
                  <a:pt x="28575" y="0"/>
                </a:lnTo>
                <a:lnTo>
                  <a:pt x="285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163575" y="462029"/>
            <a:ext cx="1703451" cy="683638"/>
          </a:xfrm>
          <a:custGeom>
            <a:avLst/>
            <a:gdLst/>
            <a:ahLst/>
            <a:cxnLst/>
            <a:rect r="r" b="b" t="t" l="l"/>
            <a:pathLst>
              <a:path h="683638" w="1703451">
                <a:moveTo>
                  <a:pt x="0" y="0"/>
                </a:moveTo>
                <a:lnTo>
                  <a:pt x="1703451" y="0"/>
                </a:lnTo>
                <a:lnTo>
                  <a:pt x="1703451" y="683638"/>
                </a:lnTo>
                <a:lnTo>
                  <a:pt x="0" y="6836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163575" y="1392431"/>
            <a:ext cx="1703451" cy="993524"/>
          </a:xfrm>
          <a:custGeom>
            <a:avLst/>
            <a:gdLst/>
            <a:ahLst/>
            <a:cxnLst/>
            <a:rect r="r" b="b" t="t" l="l"/>
            <a:pathLst>
              <a:path h="993524" w="1703451">
                <a:moveTo>
                  <a:pt x="0" y="0"/>
                </a:moveTo>
                <a:lnTo>
                  <a:pt x="1703451" y="0"/>
                </a:lnTo>
                <a:lnTo>
                  <a:pt x="1703451" y="993524"/>
                </a:lnTo>
                <a:lnTo>
                  <a:pt x="0" y="99352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163575" y="2632834"/>
            <a:ext cx="1703451" cy="727329"/>
          </a:xfrm>
          <a:custGeom>
            <a:avLst/>
            <a:gdLst/>
            <a:ahLst/>
            <a:cxnLst/>
            <a:rect r="r" b="b" t="t" l="l"/>
            <a:pathLst>
              <a:path h="727329" w="1703451">
                <a:moveTo>
                  <a:pt x="0" y="0"/>
                </a:moveTo>
                <a:lnTo>
                  <a:pt x="1703451" y="0"/>
                </a:lnTo>
                <a:lnTo>
                  <a:pt x="1703451" y="727329"/>
                </a:lnTo>
                <a:lnTo>
                  <a:pt x="0" y="72732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163823" y="5542150"/>
            <a:ext cx="1703451" cy="1164041"/>
          </a:xfrm>
          <a:custGeom>
            <a:avLst/>
            <a:gdLst/>
            <a:ahLst/>
            <a:cxnLst/>
            <a:rect r="r" b="b" t="t" l="l"/>
            <a:pathLst>
              <a:path h="1164041" w="1703451">
                <a:moveTo>
                  <a:pt x="0" y="0"/>
                </a:moveTo>
                <a:lnTo>
                  <a:pt x="1703451" y="0"/>
                </a:lnTo>
                <a:lnTo>
                  <a:pt x="1703451" y="1164041"/>
                </a:lnTo>
                <a:lnTo>
                  <a:pt x="0" y="116404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099434" y="4502153"/>
            <a:ext cx="3261865" cy="809882"/>
          </a:xfrm>
          <a:custGeom>
            <a:avLst/>
            <a:gdLst/>
            <a:ahLst/>
            <a:cxnLst/>
            <a:rect r="r" b="b" t="t" l="l"/>
            <a:pathLst>
              <a:path h="809882" w="3261865">
                <a:moveTo>
                  <a:pt x="0" y="0"/>
                </a:moveTo>
                <a:lnTo>
                  <a:pt x="3261865" y="0"/>
                </a:lnTo>
                <a:lnTo>
                  <a:pt x="3261865" y="809882"/>
                </a:lnTo>
                <a:lnTo>
                  <a:pt x="0" y="80988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100072" y="3517516"/>
            <a:ext cx="3261865" cy="810006"/>
          </a:xfrm>
          <a:custGeom>
            <a:avLst/>
            <a:gdLst/>
            <a:ahLst/>
            <a:cxnLst/>
            <a:rect r="r" b="b" t="t" l="l"/>
            <a:pathLst>
              <a:path h="810006" w="3261865">
                <a:moveTo>
                  <a:pt x="0" y="0"/>
                </a:moveTo>
                <a:lnTo>
                  <a:pt x="3261865" y="0"/>
                </a:lnTo>
                <a:lnTo>
                  <a:pt x="3261865" y="810006"/>
                </a:lnTo>
                <a:lnTo>
                  <a:pt x="0" y="81000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999100" y="455676"/>
            <a:ext cx="1928498" cy="696344"/>
          </a:xfrm>
          <a:custGeom>
            <a:avLst/>
            <a:gdLst/>
            <a:ahLst/>
            <a:cxnLst/>
            <a:rect r="r" b="b" t="t" l="l"/>
            <a:pathLst>
              <a:path h="696344" w="1928498">
                <a:moveTo>
                  <a:pt x="0" y="0"/>
                </a:moveTo>
                <a:lnTo>
                  <a:pt x="1928498" y="0"/>
                </a:lnTo>
                <a:lnTo>
                  <a:pt x="1928498" y="696344"/>
                </a:lnTo>
                <a:lnTo>
                  <a:pt x="0" y="696344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515480" y="4572000"/>
            <a:ext cx="1258062" cy="670179"/>
          </a:xfrm>
          <a:custGeom>
            <a:avLst/>
            <a:gdLst/>
            <a:ahLst/>
            <a:cxnLst/>
            <a:rect r="r" b="b" t="t" l="l"/>
            <a:pathLst>
              <a:path h="670179" w="1258062">
                <a:moveTo>
                  <a:pt x="0" y="0"/>
                </a:moveTo>
                <a:lnTo>
                  <a:pt x="1258062" y="0"/>
                </a:lnTo>
                <a:lnTo>
                  <a:pt x="1258062" y="670179"/>
                </a:lnTo>
                <a:lnTo>
                  <a:pt x="0" y="670179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516118" y="3587372"/>
            <a:ext cx="1258062" cy="670303"/>
          </a:xfrm>
          <a:custGeom>
            <a:avLst/>
            <a:gdLst/>
            <a:ahLst/>
            <a:cxnLst/>
            <a:rect r="r" b="b" t="t" l="l"/>
            <a:pathLst>
              <a:path h="670303" w="1258062">
                <a:moveTo>
                  <a:pt x="0" y="0"/>
                </a:moveTo>
                <a:lnTo>
                  <a:pt x="1258062" y="0"/>
                </a:lnTo>
                <a:lnTo>
                  <a:pt x="1258062" y="670303"/>
                </a:lnTo>
                <a:lnTo>
                  <a:pt x="0" y="670303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059548" y="459867"/>
            <a:ext cx="806320" cy="683638"/>
          </a:xfrm>
          <a:custGeom>
            <a:avLst/>
            <a:gdLst/>
            <a:ahLst/>
            <a:cxnLst/>
            <a:rect r="r" b="b" t="t" l="l"/>
            <a:pathLst>
              <a:path h="683638" w="806320">
                <a:moveTo>
                  <a:pt x="0" y="0"/>
                </a:moveTo>
                <a:lnTo>
                  <a:pt x="806320" y="0"/>
                </a:lnTo>
                <a:lnTo>
                  <a:pt x="806320" y="683638"/>
                </a:lnTo>
                <a:lnTo>
                  <a:pt x="0" y="683638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997827" y="453514"/>
            <a:ext cx="941451" cy="696344"/>
          </a:xfrm>
          <a:custGeom>
            <a:avLst/>
            <a:gdLst/>
            <a:ahLst/>
            <a:cxnLst/>
            <a:rect r="r" b="b" t="t" l="l"/>
            <a:pathLst>
              <a:path h="696344" w="941451">
                <a:moveTo>
                  <a:pt x="0" y="0"/>
                </a:moveTo>
                <a:lnTo>
                  <a:pt x="941451" y="0"/>
                </a:lnTo>
                <a:lnTo>
                  <a:pt x="941451" y="696344"/>
                </a:lnTo>
                <a:lnTo>
                  <a:pt x="0" y="696344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031999" y="1386078"/>
            <a:ext cx="4710179" cy="1006221"/>
          </a:xfrm>
          <a:custGeom>
            <a:avLst/>
            <a:gdLst/>
            <a:ahLst/>
            <a:cxnLst/>
            <a:rect r="r" b="b" t="t" l="l"/>
            <a:pathLst>
              <a:path h="1006221" w="4710179">
                <a:moveTo>
                  <a:pt x="0" y="0"/>
                </a:moveTo>
                <a:lnTo>
                  <a:pt x="4710179" y="0"/>
                </a:lnTo>
                <a:lnTo>
                  <a:pt x="4710179" y="1006221"/>
                </a:lnTo>
                <a:lnTo>
                  <a:pt x="0" y="1006221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999094" y="4565647"/>
            <a:ext cx="1742437" cy="682876"/>
          </a:xfrm>
          <a:custGeom>
            <a:avLst/>
            <a:gdLst/>
            <a:ahLst/>
            <a:cxnLst/>
            <a:rect r="r" b="b" t="t" l="l"/>
            <a:pathLst>
              <a:path h="682876" w="1742437">
                <a:moveTo>
                  <a:pt x="0" y="0"/>
                </a:moveTo>
                <a:lnTo>
                  <a:pt x="1742437" y="0"/>
                </a:lnTo>
                <a:lnTo>
                  <a:pt x="1742437" y="682876"/>
                </a:lnTo>
                <a:lnTo>
                  <a:pt x="0" y="682876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999732" y="3581019"/>
            <a:ext cx="1742437" cy="683009"/>
          </a:xfrm>
          <a:custGeom>
            <a:avLst/>
            <a:gdLst/>
            <a:ahLst/>
            <a:cxnLst/>
            <a:rect r="r" b="b" t="t" l="l"/>
            <a:pathLst>
              <a:path h="683009" w="1742437">
                <a:moveTo>
                  <a:pt x="0" y="0"/>
                </a:moveTo>
                <a:lnTo>
                  <a:pt x="1742437" y="0"/>
                </a:lnTo>
                <a:lnTo>
                  <a:pt x="1742437" y="683009"/>
                </a:lnTo>
                <a:lnTo>
                  <a:pt x="0" y="683009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076057" y="449961"/>
            <a:ext cx="1116587" cy="683514"/>
          </a:xfrm>
          <a:custGeom>
            <a:avLst/>
            <a:gdLst/>
            <a:ahLst/>
            <a:cxnLst/>
            <a:rect r="r" b="b" t="t" l="l"/>
            <a:pathLst>
              <a:path h="683514" w="1116587">
                <a:moveTo>
                  <a:pt x="0" y="0"/>
                </a:moveTo>
                <a:lnTo>
                  <a:pt x="1116587" y="0"/>
                </a:lnTo>
                <a:lnTo>
                  <a:pt x="1116587" y="683514"/>
                </a:lnTo>
                <a:lnTo>
                  <a:pt x="0" y="683514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959091" y="3587372"/>
            <a:ext cx="1258062" cy="670303"/>
          </a:xfrm>
          <a:custGeom>
            <a:avLst/>
            <a:gdLst/>
            <a:ahLst/>
            <a:cxnLst/>
            <a:rect r="r" b="b" t="t" l="l"/>
            <a:pathLst>
              <a:path h="670303" w="1258062">
                <a:moveTo>
                  <a:pt x="0" y="0"/>
                </a:moveTo>
                <a:lnTo>
                  <a:pt x="1258062" y="0"/>
                </a:lnTo>
                <a:lnTo>
                  <a:pt x="1258062" y="670303"/>
                </a:lnTo>
                <a:lnTo>
                  <a:pt x="0" y="670303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329290" y="456181"/>
            <a:ext cx="919991" cy="696344"/>
          </a:xfrm>
          <a:custGeom>
            <a:avLst/>
            <a:gdLst/>
            <a:ahLst/>
            <a:cxnLst/>
            <a:rect r="r" b="b" t="t" l="l"/>
            <a:pathLst>
              <a:path h="696344" w="919991">
                <a:moveTo>
                  <a:pt x="0" y="0"/>
                </a:moveTo>
                <a:lnTo>
                  <a:pt x="919991" y="0"/>
                </a:lnTo>
                <a:lnTo>
                  <a:pt x="919991" y="696344"/>
                </a:lnTo>
                <a:lnTo>
                  <a:pt x="0" y="696344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413492" y="459867"/>
            <a:ext cx="806320" cy="683638"/>
          </a:xfrm>
          <a:custGeom>
            <a:avLst/>
            <a:gdLst/>
            <a:ahLst/>
            <a:cxnLst/>
            <a:rect r="r" b="b" t="t" l="l"/>
            <a:pathLst>
              <a:path h="683638" w="806320">
                <a:moveTo>
                  <a:pt x="0" y="0"/>
                </a:moveTo>
                <a:lnTo>
                  <a:pt x="806320" y="0"/>
                </a:lnTo>
                <a:lnTo>
                  <a:pt x="806320" y="683638"/>
                </a:lnTo>
                <a:lnTo>
                  <a:pt x="0" y="683638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4032123" y="5535806"/>
            <a:ext cx="7801737" cy="1176747"/>
          </a:xfrm>
          <a:custGeom>
            <a:avLst/>
            <a:gdLst/>
            <a:ahLst/>
            <a:cxnLst/>
            <a:rect r="r" b="b" t="t" l="l"/>
            <a:pathLst>
              <a:path h="1176747" w="7801737">
                <a:moveTo>
                  <a:pt x="0" y="0"/>
                </a:moveTo>
                <a:lnTo>
                  <a:pt x="7801737" y="0"/>
                </a:lnTo>
                <a:lnTo>
                  <a:pt x="7801737" y="1176747"/>
                </a:lnTo>
                <a:lnTo>
                  <a:pt x="0" y="1176747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3968496" y="2562987"/>
            <a:ext cx="7928610" cy="867032"/>
          </a:xfrm>
          <a:custGeom>
            <a:avLst/>
            <a:gdLst/>
            <a:ahLst/>
            <a:cxnLst/>
            <a:rect r="r" b="b" t="t" l="l"/>
            <a:pathLst>
              <a:path h="867032" w="7928610">
                <a:moveTo>
                  <a:pt x="0" y="0"/>
                </a:moveTo>
                <a:lnTo>
                  <a:pt x="7928610" y="0"/>
                </a:lnTo>
                <a:lnTo>
                  <a:pt x="7928610" y="867032"/>
                </a:lnTo>
                <a:lnTo>
                  <a:pt x="0" y="867032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825227" y="1320422"/>
            <a:ext cx="3071879" cy="1135380"/>
          </a:xfrm>
          <a:custGeom>
            <a:avLst/>
            <a:gdLst/>
            <a:ahLst/>
            <a:cxnLst/>
            <a:rect r="r" b="b" t="t" l="l"/>
            <a:pathLst>
              <a:path h="1135380" w="3071879">
                <a:moveTo>
                  <a:pt x="0" y="0"/>
                </a:moveTo>
                <a:lnTo>
                  <a:pt x="3071879" y="0"/>
                </a:lnTo>
                <a:lnTo>
                  <a:pt x="3071879" y="1135380"/>
                </a:lnTo>
                <a:lnTo>
                  <a:pt x="0" y="1135380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352275" y="3581019"/>
            <a:ext cx="1481328" cy="683009"/>
          </a:xfrm>
          <a:custGeom>
            <a:avLst/>
            <a:gdLst/>
            <a:ahLst/>
            <a:cxnLst/>
            <a:rect r="r" b="b" t="t" l="l"/>
            <a:pathLst>
              <a:path h="683009" w="1481328">
                <a:moveTo>
                  <a:pt x="0" y="0"/>
                </a:moveTo>
                <a:lnTo>
                  <a:pt x="1481328" y="0"/>
                </a:lnTo>
                <a:lnTo>
                  <a:pt x="1481328" y="683009"/>
                </a:lnTo>
                <a:lnTo>
                  <a:pt x="0" y="683009"/>
                </a:lnTo>
                <a:lnTo>
                  <a:pt x="0" y="0"/>
                </a:lnTo>
                <a:close/>
              </a:path>
            </a:pathLst>
          </a:custGeom>
          <a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384023" y="453514"/>
            <a:ext cx="449580" cy="696344"/>
          </a:xfrm>
          <a:custGeom>
            <a:avLst/>
            <a:gdLst/>
            <a:ahLst/>
            <a:cxnLst/>
            <a:rect r="r" b="b" t="t" l="l"/>
            <a:pathLst>
              <a:path h="696344" w="449580">
                <a:moveTo>
                  <a:pt x="0" y="0"/>
                </a:moveTo>
                <a:lnTo>
                  <a:pt x="449580" y="0"/>
                </a:lnTo>
                <a:lnTo>
                  <a:pt x="449580" y="696344"/>
                </a:lnTo>
                <a:lnTo>
                  <a:pt x="0" y="696344"/>
                </a:lnTo>
                <a:lnTo>
                  <a:pt x="0" y="0"/>
                </a:lnTo>
                <a:close/>
              </a:path>
            </a:pathLst>
          </a:custGeom>
          <a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316992" y="641480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16992" y="1276607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16992" y="1911858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16992" y="2547109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16992" y="3182236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16992" y="4372232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84302" y="2545842"/>
            <a:ext cx="560546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Histórico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92531" y="1911601"/>
            <a:ext cx="691277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Ocorrência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11429" y="3086605"/>
            <a:ext cx="769934" cy="39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Ferramenta Analítica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11429" y="648462"/>
            <a:ext cx="944661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Ficha de perda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11429" y="3778758"/>
            <a:ext cx="95632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Planos de Ação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11429" y="1280922"/>
            <a:ext cx="1113625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Objeto da Análise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176259" y="689867"/>
            <a:ext cx="59537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17/08/25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100827" y="1522476"/>
            <a:ext cx="4521013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RYAN LOBATO , </a:t>
            </a: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EVARISTO LEMOS, ERIKA MACEDO, CELSO MOURAO, MARCONE TEIXEIRA, JULIO CESAR MELO, RAFAEL DE SOUSA, RICARDO LIMA, RENATO SABINO, RENATO LIMA, HOSANI SOUZA, EDERSON COELHO,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654039" y="2048256"/>
            <a:ext cx="2664777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BEATRIZ CARVALHOE LETYCIA HASHIMOTO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511295" y="3767623"/>
            <a:ext cx="691153" cy="290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1">
                <a:solidFill>
                  <a:srgbClr val="7F7F7F"/>
                </a:solidFill>
                <a:latin typeface="Calibri (MS)"/>
                <a:ea typeface="Calibri (MS)"/>
                <a:cs typeface="Calibri (MS)"/>
                <a:sym typeface="Calibri (MS)"/>
              </a:rPr>
              <a:t>Impacto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632205" y="4630455"/>
            <a:ext cx="491023" cy="290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>
                <a:solidFill>
                  <a:srgbClr val="7F7F7F"/>
                </a:solidFill>
                <a:latin typeface="Calibri (MS)"/>
                <a:ea typeface="Calibri (MS)"/>
                <a:cs typeface="Calibri (MS)"/>
                <a:sym typeface="Calibri (MS)"/>
              </a:rPr>
              <a:t>Falha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368553" y="4874295"/>
            <a:ext cx="982247" cy="290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>
                <a:solidFill>
                  <a:srgbClr val="7F7F7F"/>
                </a:solidFill>
                <a:latin typeface="Calibri (MS)"/>
                <a:ea typeface="Calibri (MS)"/>
                <a:cs typeface="Calibri (MS)"/>
                <a:sym typeface="Calibri (MS)"/>
              </a:rPr>
              <a:t>recorrente?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513333" y="2841279"/>
            <a:ext cx="1022975" cy="290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>
                <a:solidFill>
                  <a:srgbClr val="7F7F7F"/>
                </a:solidFill>
                <a:latin typeface="Calibri (MS)"/>
                <a:ea typeface="Calibri (MS)"/>
                <a:cs typeface="Calibri (MS)"/>
                <a:sym typeface="Calibri (MS)"/>
              </a:rPr>
              <a:t>TAG afetado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491997" y="5847855"/>
            <a:ext cx="1115806" cy="290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1">
                <a:solidFill>
                  <a:srgbClr val="7F7F7F"/>
                </a:solidFill>
                <a:latin typeface="Calibri (MS)"/>
                <a:ea typeface="Calibri (MS)"/>
                <a:cs typeface="Calibri (MS)"/>
                <a:sym typeface="Calibri (MS)"/>
              </a:rPr>
              <a:t>Descrição da 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798321" y="6091695"/>
            <a:ext cx="443674" cy="290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>
                <a:solidFill>
                  <a:srgbClr val="7F7F7F"/>
                </a:solidFill>
                <a:latin typeface="Calibri (MS)"/>
                <a:ea typeface="Calibri (MS)"/>
                <a:cs typeface="Calibri (MS)"/>
                <a:sym typeface="Calibri (MS)"/>
              </a:rPr>
              <a:t>Falha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478281" y="1733969"/>
            <a:ext cx="1094308" cy="290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>
                <a:solidFill>
                  <a:srgbClr val="7F7F7F"/>
                </a:solidFill>
                <a:latin typeface="Calibri (MS)"/>
                <a:ea typeface="Calibri (MS)"/>
                <a:cs typeface="Calibri (MS)"/>
                <a:sym typeface="Calibri (MS)"/>
              </a:rPr>
              <a:t>Participantes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306069" y="526323"/>
            <a:ext cx="1491882" cy="290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>
                <a:solidFill>
                  <a:srgbClr val="7F7F7F"/>
                </a:solidFill>
                <a:latin typeface="Calibri (MS)"/>
                <a:ea typeface="Calibri (MS)"/>
                <a:cs typeface="Calibri (MS)"/>
                <a:sym typeface="Calibri (MS)"/>
              </a:rPr>
              <a:t>Responsável pela 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726693" y="770163"/>
            <a:ext cx="587369" cy="290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3">
                <a:solidFill>
                  <a:srgbClr val="7F7F7F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273934" y="4752375"/>
            <a:ext cx="342128" cy="290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Não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265419" y="526323"/>
            <a:ext cx="1445101" cy="292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MOACYR ANGELI 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654039" y="770163"/>
            <a:ext cx="620871" cy="292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JUNIOR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205602" y="2719359"/>
            <a:ext cx="1580436" cy="534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4"/>
              </a:lnSpc>
            </a:pPr>
            <a:r>
              <a:rPr lang="en-US" sz="1596" spc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2298-3150 E 2298- 3250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740022" y="3645703"/>
            <a:ext cx="875157" cy="290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>
                <a:solidFill>
                  <a:srgbClr val="7F7F7F"/>
                </a:solidFill>
                <a:latin typeface="Calibri (MS)"/>
                <a:ea typeface="Calibri (MS)"/>
                <a:cs typeface="Calibri (MS)"/>
                <a:sym typeface="Calibri (MS)"/>
              </a:rPr>
              <a:t>Tempo de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860666" y="3889543"/>
            <a:ext cx="582197" cy="290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>
                <a:solidFill>
                  <a:srgbClr val="7F7F7F"/>
                </a:solidFill>
                <a:latin typeface="Calibri (MS)"/>
                <a:ea typeface="Calibri (MS)"/>
                <a:cs typeface="Calibri (MS)"/>
                <a:sym typeface="Calibri (MS)"/>
              </a:rPr>
              <a:t>parada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742432" y="4752375"/>
            <a:ext cx="822017" cy="290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>
                <a:solidFill>
                  <a:srgbClr val="7F7F7F"/>
                </a:solidFill>
                <a:latin typeface="Calibri (MS)"/>
                <a:ea typeface="Calibri (MS)"/>
                <a:cs typeface="Calibri (MS)"/>
                <a:sym typeface="Calibri (MS)"/>
              </a:rPr>
              <a:t>Última AF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243571" y="646090"/>
            <a:ext cx="446570" cy="290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>
                <a:solidFill>
                  <a:srgbClr val="7F7F7F"/>
                </a:solidFill>
                <a:latin typeface="Calibri (MS)"/>
                <a:ea typeface="Calibri (MS)"/>
                <a:cs typeface="Calibri (MS)"/>
                <a:sym typeface="Calibri (MS)"/>
              </a:rPr>
              <a:t>Data: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6158484" y="2841279"/>
            <a:ext cx="1460659" cy="290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>
                <a:solidFill>
                  <a:srgbClr val="7F7F7F"/>
                </a:solidFill>
                <a:latin typeface="Calibri (MS)"/>
                <a:ea typeface="Calibri (MS)"/>
                <a:cs typeface="Calibri (MS)"/>
                <a:sym typeface="Calibri (MS)"/>
              </a:rPr>
              <a:t>Descrição do TAG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839456" y="4752375"/>
            <a:ext cx="63265" cy="290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-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294502" y="3767623"/>
            <a:ext cx="1178042" cy="290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~320H no ano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8331451" y="636051"/>
            <a:ext cx="618373" cy="290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1">
                <a:solidFill>
                  <a:srgbClr val="7F7F7F"/>
                </a:solidFill>
                <a:latin typeface="Calibri (MS)"/>
                <a:ea typeface="Calibri (MS)"/>
                <a:cs typeface="Calibri (MS)"/>
                <a:sym typeface="Calibri (MS)"/>
              </a:rPr>
              <a:t>Nº PGR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031224" y="1639357"/>
            <a:ext cx="723405" cy="5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6" spc="1">
                <a:solidFill>
                  <a:srgbClr val="7F7F7F"/>
                </a:solidFill>
                <a:latin typeface="Calibri (MS)"/>
                <a:ea typeface="Calibri (MS)"/>
                <a:cs typeface="Calibri (MS)"/>
                <a:sym typeface="Calibri (MS)"/>
              </a:rPr>
              <a:t>Especiali dade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316212" y="3645703"/>
            <a:ext cx="603494" cy="290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>
                <a:solidFill>
                  <a:srgbClr val="7F7F7F"/>
                </a:solidFill>
                <a:latin typeface="Calibri (MS)"/>
                <a:ea typeface="Calibri (MS)"/>
                <a:cs typeface="Calibri (MS)"/>
                <a:sym typeface="Calibri (MS)"/>
              </a:rPr>
              <a:t>Custos 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150096" y="3889543"/>
            <a:ext cx="896864" cy="290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>
                <a:solidFill>
                  <a:srgbClr val="7F7F7F"/>
                </a:solidFill>
                <a:latin typeface="Calibri (MS)"/>
                <a:ea typeface="Calibri (MS)"/>
                <a:cs typeface="Calibri (MS)"/>
                <a:sym typeface="Calibri (MS)"/>
              </a:rPr>
              <a:t>envolvidos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610345" y="646090"/>
            <a:ext cx="422177" cy="290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>
                <a:solidFill>
                  <a:srgbClr val="7F7F7F"/>
                </a:solidFill>
                <a:latin typeface="Calibri (MS)"/>
                <a:ea typeface="Calibri (MS)"/>
                <a:cs typeface="Calibri (MS)"/>
                <a:sym typeface="Calibri (MS)"/>
              </a:rPr>
              <a:t>Faixa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8491090" y="2841279"/>
            <a:ext cx="2725941" cy="290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CORTADEIRAS E LAYBOYS L1 E L2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0932919" y="3767623"/>
            <a:ext cx="376276" cy="290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 spc="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R$ - 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4503420" y="5969775"/>
            <a:ext cx="6991102" cy="290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Rejeições nas cortadeiras de celulose por diversos motivos, avaliados nessa análise.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0135486" y="1517437"/>
            <a:ext cx="1626460" cy="5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Mecânica, Elétrica, Instrumentação e 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0513438" y="1976542"/>
            <a:ext cx="808472" cy="290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59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Operação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4100827" y="3778596"/>
            <a:ext cx="697487" cy="262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Produção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316992" y="3816858"/>
            <a:ext cx="78972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611429" y="4410713"/>
            <a:ext cx="453723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Anexos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1577828" y="702097"/>
            <a:ext cx="65418" cy="183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795" y="2471166"/>
            <a:ext cx="335899" cy="457924"/>
          </a:xfrm>
          <a:custGeom>
            <a:avLst/>
            <a:gdLst/>
            <a:ahLst/>
            <a:cxnLst/>
            <a:rect r="r" b="b" t="t" l="l"/>
            <a:pathLst>
              <a:path h="457924" w="335899">
                <a:moveTo>
                  <a:pt x="0" y="0"/>
                </a:moveTo>
                <a:lnTo>
                  <a:pt x="335899" y="0"/>
                </a:lnTo>
                <a:lnTo>
                  <a:pt x="335899" y="457924"/>
                </a:lnTo>
                <a:lnTo>
                  <a:pt x="0" y="457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7795" y="3106169"/>
            <a:ext cx="335899" cy="457924"/>
          </a:xfrm>
          <a:custGeom>
            <a:avLst/>
            <a:gdLst/>
            <a:ahLst/>
            <a:cxnLst/>
            <a:rect r="r" b="b" t="t" l="l"/>
            <a:pathLst>
              <a:path h="457924" w="335899">
                <a:moveTo>
                  <a:pt x="0" y="0"/>
                </a:moveTo>
                <a:lnTo>
                  <a:pt x="335899" y="0"/>
                </a:lnTo>
                <a:lnTo>
                  <a:pt x="335899" y="457924"/>
                </a:lnTo>
                <a:lnTo>
                  <a:pt x="0" y="457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7795" y="1836163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292" y="3677669"/>
            <a:ext cx="462905" cy="1139533"/>
          </a:xfrm>
          <a:custGeom>
            <a:avLst/>
            <a:gdLst/>
            <a:ahLst/>
            <a:cxnLst/>
            <a:rect r="r" b="b" t="t" l="l"/>
            <a:pathLst>
              <a:path h="1139533" w="462905">
                <a:moveTo>
                  <a:pt x="0" y="0"/>
                </a:moveTo>
                <a:lnTo>
                  <a:pt x="462905" y="0"/>
                </a:lnTo>
                <a:lnTo>
                  <a:pt x="462905" y="1139533"/>
                </a:lnTo>
                <a:lnTo>
                  <a:pt x="0" y="11395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292" y="-63503"/>
            <a:ext cx="1945872" cy="6984997"/>
          </a:xfrm>
          <a:custGeom>
            <a:avLst/>
            <a:gdLst/>
            <a:ahLst/>
            <a:cxnLst/>
            <a:rect r="r" b="b" t="t" l="l"/>
            <a:pathLst>
              <a:path h="6984997" w="1945872">
                <a:moveTo>
                  <a:pt x="0" y="0"/>
                </a:moveTo>
                <a:lnTo>
                  <a:pt x="1945872" y="0"/>
                </a:lnTo>
                <a:lnTo>
                  <a:pt x="1945872" y="6984997"/>
                </a:lnTo>
                <a:lnTo>
                  <a:pt x="0" y="69849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16737" y="161668"/>
            <a:ext cx="7074913" cy="600713"/>
          </a:xfrm>
          <a:custGeom>
            <a:avLst/>
            <a:gdLst/>
            <a:ahLst/>
            <a:cxnLst/>
            <a:rect r="r" b="b" t="t" l="l"/>
            <a:pathLst>
              <a:path h="600713" w="7074913">
                <a:moveTo>
                  <a:pt x="0" y="0"/>
                </a:moveTo>
                <a:lnTo>
                  <a:pt x="7074913" y="0"/>
                </a:lnTo>
                <a:lnTo>
                  <a:pt x="7074913" y="600713"/>
                </a:lnTo>
                <a:lnTo>
                  <a:pt x="0" y="60071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392937" y="609381"/>
            <a:ext cx="8741788" cy="6089142"/>
            <a:chOff x="0" y="0"/>
            <a:chExt cx="11655717" cy="81188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655679" cy="8118856"/>
            </a:xfrm>
            <a:custGeom>
              <a:avLst/>
              <a:gdLst/>
              <a:ahLst/>
              <a:cxnLst/>
              <a:rect r="r" b="b" t="t" l="l"/>
              <a:pathLst>
                <a:path h="8118856" w="11655679">
                  <a:moveTo>
                    <a:pt x="0" y="0"/>
                  </a:moveTo>
                  <a:lnTo>
                    <a:pt x="11655679" y="0"/>
                  </a:lnTo>
                  <a:lnTo>
                    <a:pt x="11655679" y="8118856"/>
                  </a:lnTo>
                  <a:lnTo>
                    <a:pt x="0" y="8118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382269" y="273177"/>
            <a:ext cx="6524120" cy="33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b="true" sz="1802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EQUIPAMENTO / SISTEMA – CORTADEIRAS E ENFARDAMENTOS RRP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6992" y="641480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6992" y="1276607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6992" y="1911858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6992" y="2547109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6992" y="3182236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6992" y="4372232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4302" y="2545842"/>
            <a:ext cx="560546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Histórico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2531" y="1911601"/>
            <a:ext cx="691277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Ocorrência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1429" y="3086605"/>
            <a:ext cx="769934" cy="39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Ferramenta Analítica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1429" y="648462"/>
            <a:ext cx="927249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Ficha de perda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1429" y="3778758"/>
            <a:ext cx="95632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Planos de Ação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1429" y="1280922"/>
            <a:ext cx="1145962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Objeto da Análise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16992" y="3816858"/>
            <a:ext cx="78972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11429" y="4410713"/>
            <a:ext cx="453723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Anexos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795" y="2471166"/>
            <a:ext cx="335899" cy="457924"/>
          </a:xfrm>
          <a:custGeom>
            <a:avLst/>
            <a:gdLst/>
            <a:ahLst/>
            <a:cxnLst/>
            <a:rect r="r" b="b" t="t" l="l"/>
            <a:pathLst>
              <a:path h="457924" w="335899">
                <a:moveTo>
                  <a:pt x="0" y="0"/>
                </a:moveTo>
                <a:lnTo>
                  <a:pt x="335899" y="0"/>
                </a:lnTo>
                <a:lnTo>
                  <a:pt x="335899" y="457924"/>
                </a:lnTo>
                <a:lnTo>
                  <a:pt x="0" y="457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7795" y="3106169"/>
            <a:ext cx="335899" cy="457924"/>
          </a:xfrm>
          <a:custGeom>
            <a:avLst/>
            <a:gdLst/>
            <a:ahLst/>
            <a:cxnLst/>
            <a:rect r="r" b="b" t="t" l="l"/>
            <a:pathLst>
              <a:path h="457924" w="335899">
                <a:moveTo>
                  <a:pt x="0" y="0"/>
                </a:moveTo>
                <a:lnTo>
                  <a:pt x="335899" y="0"/>
                </a:lnTo>
                <a:lnTo>
                  <a:pt x="335899" y="457924"/>
                </a:lnTo>
                <a:lnTo>
                  <a:pt x="0" y="457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7795" y="1836163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292" y="3677669"/>
            <a:ext cx="462905" cy="1139533"/>
          </a:xfrm>
          <a:custGeom>
            <a:avLst/>
            <a:gdLst/>
            <a:ahLst/>
            <a:cxnLst/>
            <a:rect r="r" b="b" t="t" l="l"/>
            <a:pathLst>
              <a:path h="1139533" w="462905">
                <a:moveTo>
                  <a:pt x="0" y="0"/>
                </a:moveTo>
                <a:lnTo>
                  <a:pt x="462905" y="0"/>
                </a:lnTo>
                <a:lnTo>
                  <a:pt x="462905" y="1139533"/>
                </a:lnTo>
                <a:lnTo>
                  <a:pt x="0" y="11395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292" y="-63503"/>
            <a:ext cx="1945872" cy="6984997"/>
          </a:xfrm>
          <a:custGeom>
            <a:avLst/>
            <a:gdLst/>
            <a:ahLst/>
            <a:cxnLst/>
            <a:rect r="r" b="b" t="t" l="l"/>
            <a:pathLst>
              <a:path h="6984997" w="1945872">
                <a:moveTo>
                  <a:pt x="0" y="0"/>
                </a:moveTo>
                <a:lnTo>
                  <a:pt x="1945872" y="0"/>
                </a:lnTo>
                <a:lnTo>
                  <a:pt x="1945872" y="6984997"/>
                </a:lnTo>
                <a:lnTo>
                  <a:pt x="0" y="69849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16737" y="161668"/>
            <a:ext cx="7341613" cy="600713"/>
          </a:xfrm>
          <a:custGeom>
            <a:avLst/>
            <a:gdLst/>
            <a:ahLst/>
            <a:cxnLst/>
            <a:rect r="r" b="b" t="t" l="l"/>
            <a:pathLst>
              <a:path h="600713" w="7341613">
                <a:moveTo>
                  <a:pt x="0" y="0"/>
                </a:moveTo>
                <a:lnTo>
                  <a:pt x="7341613" y="0"/>
                </a:lnTo>
                <a:lnTo>
                  <a:pt x="7341613" y="600713"/>
                </a:lnTo>
                <a:lnTo>
                  <a:pt x="0" y="60071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316737" y="911504"/>
            <a:ext cx="9591675" cy="4735573"/>
            <a:chOff x="0" y="0"/>
            <a:chExt cx="12788900" cy="63140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88900" cy="6314059"/>
            </a:xfrm>
            <a:custGeom>
              <a:avLst/>
              <a:gdLst/>
              <a:ahLst/>
              <a:cxnLst/>
              <a:rect r="r" b="b" t="t" l="l"/>
              <a:pathLst>
                <a:path h="6314059" w="12788900">
                  <a:moveTo>
                    <a:pt x="0" y="0"/>
                  </a:moveTo>
                  <a:lnTo>
                    <a:pt x="12788900" y="0"/>
                  </a:lnTo>
                  <a:lnTo>
                    <a:pt x="12788900" y="6314059"/>
                  </a:lnTo>
                  <a:lnTo>
                    <a:pt x="0" y="6314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316737" y="5672357"/>
            <a:ext cx="9591675" cy="600685"/>
          </a:xfrm>
          <a:custGeom>
            <a:avLst/>
            <a:gdLst/>
            <a:ahLst/>
            <a:cxnLst/>
            <a:rect r="r" b="b" t="t" l="l"/>
            <a:pathLst>
              <a:path h="600685" w="9591675">
                <a:moveTo>
                  <a:pt x="0" y="0"/>
                </a:moveTo>
                <a:lnTo>
                  <a:pt x="9591675" y="0"/>
                </a:lnTo>
                <a:lnTo>
                  <a:pt x="9591675" y="600684"/>
                </a:lnTo>
                <a:lnTo>
                  <a:pt x="0" y="60068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382269" y="273177"/>
            <a:ext cx="5333124" cy="33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b="true" sz="1802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DADOS DE REJEIÇÕES 2025 – BASE OCORRÊNCIAS PGR+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6992" y="641480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6992" y="1276607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6992" y="1911858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6992" y="2547109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6992" y="3182236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6992" y="4372232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84302" y="2545842"/>
            <a:ext cx="560546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Histórico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2531" y="1911601"/>
            <a:ext cx="691277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Ocorrência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1429" y="3086605"/>
            <a:ext cx="769934" cy="39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Ferramenta Analítica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1429" y="648462"/>
            <a:ext cx="927249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Ficha de perda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1429" y="3778758"/>
            <a:ext cx="95632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Planos de Ação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11429" y="1280922"/>
            <a:ext cx="1145962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Objeto da Análise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16992" y="3816858"/>
            <a:ext cx="78972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11429" y="4410713"/>
            <a:ext cx="453723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Anexos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382269" y="5751157"/>
            <a:ext cx="9667742" cy="446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404">
                <a:solidFill>
                  <a:srgbClr val="FF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* EXPURGADAS OCORRÊNCIAS EXTERNAS À CORTADEIRA E ENFARDAMENTO (EXCETO VARIAÇÕES DE PERFIL DA FOLHA) E CORTE DE CAPAS*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795" y="2471166"/>
            <a:ext cx="335899" cy="457924"/>
          </a:xfrm>
          <a:custGeom>
            <a:avLst/>
            <a:gdLst/>
            <a:ahLst/>
            <a:cxnLst/>
            <a:rect r="r" b="b" t="t" l="l"/>
            <a:pathLst>
              <a:path h="457924" w="335899">
                <a:moveTo>
                  <a:pt x="0" y="0"/>
                </a:moveTo>
                <a:lnTo>
                  <a:pt x="335899" y="0"/>
                </a:lnTo>
                <a:lnTo>
                  <a:pt x="335899" y="457924"/>
                </a:lnTo>
                <a:lnTo>
                  <a:pt x="0" y="457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7795" y="3106169"/>
            <a:ext cx="335899" cy="457924"/>
          </a:xfrm>
          <a:custGeom>
            <a:avLst/>
            <a:gdLst/>
            <a:ahLst/>
            <a:cxnLst/>
            <a:rect r="r" b="b" t="t" l="l"/>
            <a:pathLst>
              <a:path h="457924" w="335899">
                <a:moveTo>
                  <a:pt x="0" y="0"/>
                </a:moveTo>
                <a:lnTo>
                  <a:pt x="335899" y="0"/>
                </a:lnTo>
                <a:lnTo>
                  <a:pt x="335899" y="457924"/>
                </a:lnTo>
                <a:lnTo>
                  <a:pt x="0" y="457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7795" y="566166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292" y="3677669"/>
            <a:ext cx="462905" cy="1139533"/>
          </a:xfrm>
          <a:custGeom>
            <a:avLst/>
            <a:gdLst/>
            <a:ahLst/>
            <a:cxnLst/>
            <a:rect r="r" b="b" t="t" l="l"/>
            <a:pathLst>
              <a:path h="1139533" w="462905">
                <a:moveTo>
                  <a:pt x="0" y="0"/>
                </a:moveTo>
                <a:lnTo>
                  <a:pt x="462905" y="0"/>
                </a:lnTo>
                <a:lnTo>
                  <a:pt x="462905" y="1139533"/>
                </a:lnTo>
                <a:lnTo>
                  <a:pt x="0" y="11395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292" y="-63503"/>
            <a:ext cx="1945872" cy="6984997"/>
          </a:xfrm>
          <a:custGeom>
            <a:avLst/>
            <a:gdLst/>
            <a:ahLst/>
            <a:cxnLst/>
            <a:rect r="r" b="b" t="t" l="l"/>
            <a:pathLst>
              <a:path h="6984997" w="1945872">
                <a:moveTo>
                  <a:pt x="0" y="0"/>
                </a:moveTo>
                <a:lnTo>
                  <a:pt x="1945872" y="0"/>
                </a:lnTo>
                <a:lnTo>
                  <a:pt x="1945872" y="6984997"/>
                </a:lnTo>
                <a:lnTo>
                  <a:pt x="0" y="69849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16737" y="161668"/>
            <a:ext cx="9141838" cy="600713"/>
          </a:xfrm>
          <a:custGeom>
            <a:avLst/>
            <a:gdLst/>
            <a:ahLst/>
            <a:cxnLst/>
            <a:rect r="r" b="b" t="t" l="l"/>
            <a:pathLst>
              <a:path h="600713" w="9141838">
                <a:moveTo>
                  <a:pt x="0" y="0"/>
                </a:moveTo>
                <a:lnTo>
                  <a:pt x="9141838" y="0"/>
                </a:lnTo>
                <a:lnTo>
                  <a:pt x="9141838" y="600713"/>
                </a:lnTo>
                <a:lnTo>
                  <a:pt x="0" y="60071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316737" y="1092222"/>
            <a:ext cx="9608696" cy="4610738"/>
            <a:chOff x="0" y="0"/>
            <a:chExt cx="12811595" cy="61476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11633" cy="6147689"/>
            </a:xfrm>
            <a:custGeom>
              <a:avLst/>
              <a:gdLst/>
              <a:ahLst/>
              <a:cxnLst/>
              <a:rect r="r" b="b" t="t" l="l"/>
              <a:pathLst>
                <a:path h="6147689" w="12811633">
                  <a:moveTo>
                    <a:pt x="0" y="0"/>
                  </a:moveTo>
                  <a:lnTo>
                    <a:pt x="12811633" y="0"/>
                  </a:lnTo>
                  <a:lnTo>
                    <a:pt x="12811633" y="6147689"/>
                  </a:lnTo>
                  <a:lnTo>
                    <a:pt x="0" y="6147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316737" y="5672357"/>
            <a:ext cx="9591675" cy="600685"/>
          </a:xfrm>
          <a:custGeom>
            <a:avLst/>
            <a:gdLst/>
            <a:ahLst/>
            <a:cxnLst/>
            <a:rect r="r" b="b" t="t" l="l"/>
            <a:pathLst>
              <a:path h="600685" w="9591675">
                <a:moveTo>
                  <a:pt x="0" y="0"/>
                </a:moveTo>
                <a:lnTo>
                  <a:pt x="9591675" y="0"/>
                </a:lnTo>
                <a:lnTo>
                  <a:pt x="9591675" y="600684"/>
                </a:lnTo>
                <a:lnTo>
                  <a:pt x="0" y="60068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16992" y="641480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6992" y="1276607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6992" y="1911858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6992" y="2547109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6992" y="3182236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6992" y="4372232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4302" y="2545842"/>
            <a:ext cx="560546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Histórico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1429" y="3086605"/>
            <a:ext cx="769934" cy="39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Ferramenta Analítica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2531" y="1911601"/>
            <a:ext cx="94388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Ocorrências L1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1429" y="648462"/>
            <a:ext cx="927249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Ficha de perda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1429" y="3778758"/>
            <a:ext cx="95632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Planos de Ação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1429" y="1280922"/>
            <a:ext cx="1113625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Objeto da Análise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16992" y="3816858"/>
            <a:ext cx="78972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11429" y="4410713"/>
            <a:ext cx="453723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Anexos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382269" y="273177"/>
            <a:ext cx="7891872" cy="33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b="true" sz="1802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ESTRATIFICAÇÃO DAS REJEIÇÕES POR EQUIPAMENTO / SISTEMA – CORTADEIRA L1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382269" y="5829262"/>
            <a:ext cx="8695877" cy="262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b="true" sz="1404">
                <a:solidFill>
                  <a:srgbClr val="FF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* ESTRATIFICAÇÃO DE DADOS DAS OCORRÊNCIAS DO PGR+ COM BASE NO EQUIPAMENTO OU SISTEMA DE ORIGEM.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795" y="2471166"/>
            <a:ext cx="335899" cy="457924"/>
          </a:xfrm>
          <a:custGeom>
            <a:avLst/>
            <a:gdLst/>
            <a:ahLst/>
            <a:cxnLst/>
            <a:rect r="r" b="b" t="t" l="l"/>
            <a:pathLst>
              <a:path h="457924" w="335899">
                <a:moveTo>
                  <a:pt x="0" y="0"/>
                </a:moveTo>
                <a:lnTo>
                  <a:pt x="335899" y="0"/>
                </a:lnTo>
                <a:lnTo>
                  <a:pt x="335899" y="457924"/>
                </a:lnTo>
                <a:lnTo>
                  <a:pt x="0" y="457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7795" y="3106169"/>
            <a:ext cx="335899" cy="457924"/>
          </a:xfrm>
          <a:custGeom>
            <a:avLst/>
            <a:gdLst/>
            <a:ahLst/>
            <a:cxnLst/>
            <a:rect r="r" b="b" t="t" l="l"/>
            <a:pathLst>
              <a:path h="457924" w="335899">
                <a:moveTo>
                  <a:pt x="0" y="0"/>
                </a:moveTo>
                <a:lnTo>
                  <a:pt x="335899" y="0"/>
                </a:lnTo>
                <a:lnTo>
                  <a:pt x="335899" y="457924"/>
                </a:lnTo>
                <a:lnTo>
                  <a:pt x="0" y="457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7795" y="566166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292" y="3677669"/>
            <a:ext cx="462905" cy="1139533"/>
          </a:xfrm>
          <a:custGeom>
            <a:avLst/>
            <a:gdLst/>
            <a:ahLst/>
            <a:cxnLst/>
            <a:rect r="r" b="b" t="t" l="l"/>
            <a:pathLst>
              <a:path h="1139533" w="462905">
                <a:moveTo>
                  <a:pt x="0" y="0"/>
                </a:moveTo>
                <a:lnTo>
                  <a:pt x="462905" y="0"/>
                </a:lnTo>
                <a:lnTo>
                  <a:pt x="462905" y="1139533"/>
                </a:lnTo>
                <a:lnTo>
                  <a:pt x="0" y="11395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292" y="-63503"/>
            <a:ext cx="1945872" cy="6984997"/>
          </a:xfrm>
          <a:custGeom>
            <a:avLst/>
            <a:gdLst/>
            <a:ahLst/>
            <a:cxnLst/>
            <a:rect r="r" b="b" t="t" l="l"/>
            <a:pathLst>
              <a:path h="6984997" w="1945872">
                <a:moveTo>
                  <a:pt x="0" y="0"/>
                </a:moveTo>
                <a:lnTo>
                  <a:pt x="1945872" y="0"/>
                </a:lnTo>
                <a:lnTo>
                  <a:pt x="1945872" y="6984997"/>
                </a:lnTo>
                <a:lnTo>
                  <a:pt x="0" y="69849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16737" y="161668"/>
            <a:ext cx="9141838" cy="600713"/>
          </a:xfrm>
          <a:custGeom>
            <a:avLst/>
            <a:gdLst/>
            <a:ahLst/>
            <a:cxnLst/>
            <a:rect r="r" b="b" t="t" l="l"/>
            <a:pathLst>
              <a:path h="600713" w="9141838">
                <a:moveTo>
                  <a:pt x="0" y="0"/>
                </a:moveTo>
                <a:lnTo>
                  <a:pt x="9141838" y="0"/>
                </a:lnTo>
                <a:lnTo>
                  <a:pt x="9141838" y="600713"/>
                </a:lnTo>
                <a:lnTo>
                  <a:pt x="0" y="60071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09610" y="645604"/>
            <a:ext cx="3196209" cy="1964179"/>
          </a:xfrm>
          <a:custGeom>
            <a:avLst/>
            <a:gdLst/>
            <a:ahLst/>
            <a:cxnLst/>
            <a:rect r="r" b="b" t="t" l="l"/>
            <a:pathLst>
              <a:path h="1964179" w="3196209">
                <a:moveTo>
                  <a:pt x="0" y="0"/>
                </a:moveTo>
                <a:lnTo>
                  <a:pt x="3196208" y="0"/>
                </a:lnTo>
                <a:lnTo>
                  <a:pt x="3196208" y="1964179"/>
                </a:lnTo>
                <a:lnTo>
                  <a:pt x="0" y="196417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477189" y="639385"/>
            <a:ext cx="3200524" cy="1964179"/>
          </a:xfrm>
          <a:custGeom>
            <a:avLst/>
            <a:gdLst/>
            <a:ahLst/>
            <a:cxnLst/>
            <a:rect r="r" b="b" t="t" l="l"/>
            <a:pathLst>
              <a:path h="1964179" w="3200524">
                <a:moveTo>
                  <a:pt x="0" y="0"/>
                </a:moveTo>
                <a:lnTo>
                  <a:pt x="3200524" y="0"/>
                </a:lnTo>
                <a:lnTo>
                  <a:pt x="3200524" y="1964179"/>
                </a:lnTo>
                <a:lnTo>
                  <a:pt x="0" y="196417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775887" y="639385"/>
            <a:ext cx="3200524" cy="1964179"/>
          </a:xfrm>
          <a:custGeom>
            <a:avLst/>
            <a:gdLst/>
            <a:ahLst/>
            <a:cxnLst/>
            <a:rect r="r" b="b" t="t" l="l"/>
            <a:pathLst>
              <a:path h="1964179" w="3200524">
                <a:moveTo>
                  <a:pt x="0" y="0"/>
                </a:moveTo>
                <a:lnTo>
                  <a:pt x="3200524" y="0"/>
                </a:lnTo>
                <a:lnTo>
                  <a:pt x="3200524" y="1964179"/>
                </a:lnTo>
                <a:lnTo>
                  <a:pt x="0" y="196417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775887" y="2670238"/>
            <a:ext cx="3196209" cy="1961645"/>
          </a:xfrm>
          <a:custGeom>
            <a:avLst/>
            <a:gdLst/>
            <a:ahLst/>
            <a:cxnLst/>
            <a:rect r="r" b="b" t="t" l="l"/>
            <a:pathLst>
              <a:path h="1961645" w="3196209">
                <a:moveTo>
                  <a:pt x="0" y="0"/>
                </a:moveTo>
                <a:lnTo>
                  <a:pt x="3196209" y="0"/>
                </a:lnTo>
                <a:lnTo>
                  <a:pt x="3196209" y="1961646"/>
                </a:lnTo>
                <a:lnTo>
                  <a:pt x="0" y="196164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2238251" y="674246"/>
            <a:ext cx="3139059" cy="1907029"/>
            <a:chOff x="0" y="0"/>
            <a:chExt cx="4185412" cy="25427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85412" cy="2542667"/>
            </a:xfrm>
            <a:custGeom>
              <a:avLst/>
              <a:gdLst/>
              <a:ahLst/>
              <a:cxnLst/>
              <a:rect r="r" b="b" t="t" l="l"/>
              <a:pathLst>
                <a:path h="2542667" w="4185412">
                  <a:moveTo>
                    <a:pt x="0" y="0"/>
                  </a:moveTo>
                  <a:lnTo>
                    <a:pt x="4185412" y="0"/>
                  </a:lnTo>
                  <a:lnTo>
                    <a:pt x="4185412" y="2542667"/>
                  </a:lnTo>
                  <a:lnTo>
                    <a:pt x="0" y="2542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-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505831" y="668017"/>
            <a:ext cx="3143374" cy="1907029"/>
            <a:chOff x="0" y="0"/>
            <a:chExt cx="4191165" cy="25427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91127" cy="2542667"/>
            </a:xfrm>
            <a:custGeom>
              <a:avLst/>
              <a:gdLst/>
              <a:ahLst/>
              <a:cxnLst/>
              <a:rect r="r" b="b" t="t" l="l"/>
              <a:pathLst>
                <a:path h="2542667" w="4191127">
                  <a:moveTo>
                    <a:pt x="0" y="0"/>
                  </a:moveTo>
                  <a:lnTo>
                    <a:pt x="4191127" y="0"/>
                  </a:lnTo>
                  <a:lnTo>
                    <a:pt x="4191127" y="2542667"/>
                  </a:lnTo>
                  <a:lnTo>
                    <a:pt x="0" y="2542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-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804529" y="668017"/>
            <a:ext cx="3143374" cy="1907029"/>
            <a:chOff x="0" y="0"/>
            <a:chExt cx="4191165" cy="254270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91127" cy="2542667"/>
            </a:xfrm>
            <a:custGeom>
              <a:avLst/>
              <a:gdLst/>
              <a:ahLst/>
              <a:cxnLst/>
              <a:rect r="r" b="b" t="t" l="l"/>
              <a:pathLst>
                <a:path h="2542667" w="4191127">
                  <a:moveTo>
                    <a:pt x="0" y="0"/>
                  </a:moveTo>
                  <a:lnTo>
                    <a:pt x="4191127" y="0"/>
                  </a:lnTo>
                  <a:lnTo>
                    <a:pt x="4191127" y="2542667"/>
                  </a:lnTo>
                  <a:lnTo>
                    <a:pt x="0" y="2542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-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238251" y="2698880"/>
            <a:ext cx="3139059" cy="1904495"/>
            <a:chOff x="0" y="0"/>
            <a:chExt cx="4185412" cy="253932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85412" cy="2539365"/>
            </a:xfrm>
            <a:custGeom>
              <a:avLst/>
              <a:gdLst/>
              <a:ahLst/>
              <a:cxnLst/>
              <a:rect r="r" b="b" t="t" l="l"/>
              <a:pathLst>
                <a:path h="2539365" w="4185412">
                  <a:moveTo>
                    <a:pt x="0" y="0"/>
                  </a:moveTo>
                  <a:lnTo>
                    <a:pt x="4185412" y="0"/>
                  </a:lnTo>
                  <a:lnTo>
                    <a:pt x="4185412" y="2539365"/>
                  </a:lnTo>
                  <a:lnTo>
                    <a:pt x="0" y="253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1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505831" y="2698880"/>
            <a:ext cx="3139059" cy="1904495"/>
            <a:chOff x="0" y="0"/>
            <a:chExt cx="4185412" cy="25393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85412" cy="2539365"/>
            </a:xfrm>
            <a:custGeom>
              <a:avLst/>
              <a:gdLst/>
              <a:ahLst/>
              <a:cxnLst/>
              <a:rect r="r" b="b" t="t" l="l"/>
              <a:pathLst>
                <a:path h="2539365" w="4185412">
                  <a:moveTo>
                    <a:pt x="0" y="0"/>
                  </a:moveTo>
                  <a:lnTo>
                    <a:pt x="4185412" y="0"/>
                  </a:lnTo>
                  <a:lnTo>
                    <a:pt x="4185412" y="2539365"/>
                  </a:lnTo>
                  <a:lnTo>
                    <a:pt x="0" y="253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1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804529" y="2698880"/>
            <a:ext cx="3139059" cy="1904495"/>
            <a:chOff x="0" y="0"/>
            <a:chExt cx="4185412" cy="253932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85412" cy="2539365"/>
            </a:xfrm>
            <a:custGeom>
              <a:avLst/>
              <a:gdLst/>
              <a:ahLst/>
              <a:cxnLst/>
              <a:rect r="r" b="b" t="t" l="l"/>
              <a:pathLst>
                <a:path h="2539365" w="4185412">
                  <a:moveTo>
                    <a:pt x="0" y="0"/>
                  </a:moveTo>
                  <a:lnTo>
                    <a:pt x="4185412" y="0"/>
                  </a:lnTo>
                  <a:lnTo>
                    <a:pt x="4185412" y="2539365"/>
                  </a:lnTo>
                  <a:lnTo>
                    <a:pt x="0" y="253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1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238251" y="4720933"/>
            <a:ext cx="3139059" cy="1907029"/>
            <a:chOff x="0" y="0"/>
            <a:chExt cx="4185412" cy="254270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185412" cy="2542667"/>
            </a:xfrm>
            <a:custGeom>
              <a:avLst/>
              <a:gdLst/>
              <a:ahLst/>
              <a:cxnLst/>
              <a:rect r="r" b="b" t="t" l="l"/>
              <a:pathLst>
                <a:path h="2542667" w="4185412">
                  <a:moveTo>
                    <a:pt x="0" y="0"/>
                  </a:moveTo>
                  <a:lnTo>
                    <a:pt x="4185412" y="0"/>
                  </a:lnTo>
                  <a:lnTo>
                    <a:pt x="4185412" y="2542667"/>
                  </a:lnTo>
                  <a:lnTo>
                    <a:pt x="0" y="2542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0" b="-1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505831" y="4723476"/>
            <a:ext cx="3139059" cy="1904495"/>
            <a:chOff x="0" y="0"/>
            <a:chExt cx="4185412" cy="253932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85412" cy="2539365"/>
            </a:xfrm>
            <a:custGeom>
              <a:avLst/>
              <a:gdLst/>
              <a:ahLst/>
              <a:cxnLst/>
              <a:rect r="r" b="b" t="t" l="l"/>
              <a:pathLst>
                <a:path h="2539365" w="4185412">
                  <a:moveTo>
                    <a:pt x="0" y="0"/>
                  </a:moveTo>
                  <a:lnTo>
                    <a:pt x="4185412" y="0"/>
                  </a:lnTo>
                  <a:lnTo>
                    <a:pt x="4185412" y="2539365"/>
                  </a:lnTo>
                  <a:lnTo>
                    <a:pt x="0" y="253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0" b="1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5477189" y="4694901"/>
            <a:ext cx="3196209" cy="1961645"/>
          </a:xfrm>
          <a:custGeom>
            <a:avLst/>
            <a:gdLst/>
            <a:ahLst/>
            <a:cxnLst/>
            <a:rect r="r" b="b" t="t" l="l"/>
            <a:pathLst>
              <a:path h="1961645" w="3196209">
                <a:moveTo>
                  <a:pt x="0" y="0"/>
                </a:moveTo>
                <a:lnTo>
                  <a:pt x="3196209" y="0"/>
                </a:lnTo>
                <a:lnTo>
                  <a:pt x="3196209" y="1961645"/>
                </a:lnTo>
                <a:lnTo>
                  <a:pt x="0" y="1961645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804529" y="4720847"/>
            <a:ext cx="3139059" cy="1904571"/>
          </a:xfrm>
          <a:custGeom>
            <a:avLst/>
            <a:gdLst/>
            <a:ahLst/>
            <a:cxnLst/>
            <a:rect r="r" b="b" t="t" l="l"/>
            <a:pathLst>
              <a:path h="1904571" w="3139059">
                <a:moveTo>
                  <a:pt x="0" y="0"/>
                </a:moveTo>
                <a:lnTo>
                  <a:pt x="3139059" y="0"/>
                </a:lnTo>
                <a:lnTo>
                  <a:pt x="3139059" y="1904572"/>
                </a:lnTo>
                <a:lnTo>
                  <a:pt x="0" y="1904572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316992" y="641480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16992" y="1276607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16992" y="1911858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16992" y="2547109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16992" y="3182236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16992" y="4372232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84302" y="2545842"/>
            <a:ext cx="560546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Histórico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11429" y="3086605"/>
            <a:ext cx="769934" cy="39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Ferramenta Analítica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92531" y="1911601"/>
            <a:ext cx="94388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Ocorrências L1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11429" y="648462"/>
            <a:ext cx="927249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Ficha de perda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11429" y="3778758"/>
            <a:ext cx="95632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Planos de Ação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11429" y="1280922"/>
            <a:ext cx="1113625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Objeto da Análise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16992" y="3816858"/>
            <a:ext cx="78972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11429" y="4410713"/>
            <a:ext cx="453723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Anexos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382269" y="273177"/>
            <a:ext cx="7891872" cy="33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b="true" sz="1802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ESTRATIFICAÇÃO DAS REJEIÇÕES POR EQUIPAMENTO / SISTEMA – CORTADEIRA L1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934574" y="5451539"/>
            <a:ext cx="2630072" cy="446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404">
                <a:solidFill>
                  <a:srgbClr val="FF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* SELEÇÃO DOS PROBLEMAS PARA APROFUNDAMENTO DO ESTUDO.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795" y="2471166"/>
            <a:ext cx="335899" cy="457924"/>
          </a:xfrm>
          <a:custGeom>
            <a:avLst/>
            <a:gdLst/>
            <a:ahLst/>
            <a:cxnLst/>
            <a:rect r="r" b="b" t="t" l="l"/>
            <a:pathLst>
              <a:path h="457924" w="335899">
                <a:moveTo>
                  <a:pt x="0" y="0"/>
                </a:moveTo>
                <a:lnTo>
                  <a:pt x="335899" y="0"/>
                </a:lnTo>
                <a:lnTo>
                  <a:pt x="335899" y="457924"/>
                </a:lnTo>
                <a:lnTo>
                  <a:pt x="0" y="457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7795" y="3106169"/>
            <a:ext cx="335899" cy="457924"/>
          </a:xfrm>
          <a:custGeom>
            <a:avLst/>
            <a:gdLst/>
            <a:ahLst/>
            <a:cxnLst/>
            <a:rect r="r" b="b" t="t" l="l"/>
            <a:pathLst>
              <a:path h="457924" w="335899">
                <a:moveTo>
                  <a:pt x="0" y="0"/>
                </a:moveTo>
                <a:lnTo>
                  <a:pt x="335899" y="0"/>
                </a:lnTo>
                <a:lnTo>
                  <a:pt x="335899" y="457924"/>
                </a:lnTo>
                <a:lnTo>
                  <a:pt x="0" y="457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7795" y="566166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292" y="3677669"/>
            <a:ext cx="462905" cy="1139533"/>
          </a:xfrm>
          <a:custGeom>
            <a:avLst/>
            <a:gdLst/>
            <a:ahLst/>
            <a:cxnLst/>
            <a:rect r="r" b="b" t="t" l="l"/>
            <a:pathLst>
              <a:path h="1139533" w="462905">
                <a:moveTo>
                  <a:pt x="0" y="0"/>
                </a:moveTo>
                <a:lnTo>
                  <a:pt x="462905" y="0"/>
                </a:lnTo>
                <a:lnTo>
                  <a:pt x="462905" y="1139533"/>
                </a:lnTo>
                <a:lnTo>
                  <a:pt x="0" y="11395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292" y="-63503"/>
            <a:ext cx="1945872" cy="6984997"/>
          </a:xfrm>
          <a:custGeom>
            <a:avLst/>
            <a:gdLst/>
            <a:ahLst/>
            <a:cxnLst/>
            <a:rect r="r" b="b" t="t" l="l"/>
            <a:pathLst>
              <a:path h="6984997" w="1945872">
                <a:moveTo>
                  <a:pt x="0" y="0"/>
                </a:moveTo>
                <a:lnTo>
                  <a:pt x="1945872" y="0"/>
                </a:lnTo>
                <a:lnTo>
                  <a:pt x="1945872" y="6984997"/>
                </a:lnTo>
                <a:lnTo>
                  <a:pt x="0" y="69849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16737" y="161668"/>
            <a:ext cx="9141838" cy="600713"/>
          </a:xfrm>
          <a:custGeom>
            <a:avLst/>
            <a:gdLst/>
            <a:ahLst/>
            <a:cxnLst/>
            <a:rect r="r" b="b" t="t" l="l"/>
            <a:pathLst>
              <a:path h="600713" w="9141838">
                <a:moveTo>
                  <a:pt x="0" y="0"/>
                </a:moveTo>
                <a:lnTo>
                  <a:pt x="9141838" y="0"/>
                </a:lnTo>
                <a:lnTo>
                  <a:pt x="9141838" y="600713"/>
                </a:lnTo>
                <a:lnTo>
                  <a:pt x="0" y="60071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316737" y="1099528"/>
            <a:ext cx="9608696" cy="4615815"/>
            <a:chOff x="0" y="0"/>
            <a:chExt cx="12811595" cy="61544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11633" cy="6154420"/>
            </a:xfrm>
            <a:custGeom>
              <a:avLst/>
              <a:gdLst/>
              <a:ahLst/>
              <a:cxnLst/>
              <a:rect r="r" b="b" t="t" l="l"/>
              <a:pathLst>
                <a:path h="6154420" w="12811633">
                  <a:moveTo>
                    <a:pt x="0" y="0"/>
                  </a:moveTo>
                  <a:lnTo>
                    <a:pt x="12811633" y="0"/>
                  </a:lnTo>
                  <a:lnTo>
                    <a:pt x="12811633" y="6154420"/>
                  </a:lnTo>
                  <a:lnTo>
                    <a:pt x="0" y="61544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316737" y="5672357"/>
            <a:ext cx="9591675" cy="600685"/>
          </a:xfrm>
          <a:custGeom>
            <a:avLst/>
            <a:gdLst/>
            <a:ahLst/>
            <a:cxnLst/>
            <a:rect r="r" b="b" t="t" l="l"/>
            <a:pathLst>
              <a:path h="600685" w="9591675">
                <a:moveTo>
                  <a:pt x="0" y="0"/>
                </a:moveTo>
                <a:lnTo>
                  <a:pt x="9591675" y="0"/>
                </a:lnTo>
                <a:lnTo>
                  <a:pt x="9591675" y="600684"/>
                </a:lnTo>
                <a:lnTo>
                  <a:pt x="0" y="60068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16992" y="641480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6992" y="1276607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6992" y="1911858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6992" y="2547109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6992" y="3182236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6992" y="4372232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4302" y="2545842"/>
            <a:ext cx="560546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Histórico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1429" y="3086605"/>
            <a:ext cx="769934" cy="39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Ferramenta Analítica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2531" y="1911601"/>
            <a:ext cx="94388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Ocorrências L2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1429" y="648462"/>
            <a:ext cx="927249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Ficha de perda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1429" y="3778758"/>
            <a:ext cx="95632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Planos de Ação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1429" y="1280922"/>
            <a:ext cx="1113625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Objeto da Análise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16992" y="3816858"/>
            <a:ext cx="78972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11429" y="4410713"/>
            <a:ext cx="453723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Anexos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382269" y="273177"/>
            <a:ext cx="7891872" cy="33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b="true" sz="1802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ESTRATIFICAÇÃO DAS REJEIÇÕES POR EQUIPAMENTO / SISTEMA – CORTADEIRA L2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382269" y="5829262"/>
            <a:ext cx="8695877" cy="262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b="true" sz="1404">
                <a:solidFill>
                  <a:srgbClr val="FF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* ESTRATIFICAÇÃO DE DADOS DAS OCORRÊNCIAS DO PGR+ COM BASE NO EQUIPAMENTO OU SISTEMA DE ORIGEM.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795" y="2471166"/>
            <a:ext cx="335899" cy="457924"/>
          </a:xfrm>
          <a:custGeom>
            <a:avLst/>
            <a:gdLst/>
            <a:ahLst/>
            <a:cxnLst/>
            <a:rect r="r" b="b" t="t" l="l"/>
            <a:pathLst>
              <a:path h="457924" w="335899">
                <a:moveTo>
                  <a:pt x="0" y="0"/>
                </a:moveTo>
                <a:lnTo>
                  <a:pt x="335899" y="0"/>
                </a:lnTo>
                <a:lnTo>
                  <a:pt x="335899" y="457924"/>
                </a:lnTo>
                <a:lnTo>
                  <a:pt x="0" y="457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7795" y="3106169"/>
            <a:ext cx="335899" cy="457924"/>
          </a:xfrm>
          <a:custGeom>
            <a:avLst/>
            <a:gdLst/>
            <a:ahLst/>
            <a:cxnLst/>
            <a:rect r="r" b="b" t="t" l="l"/>
            <a:pathLst>
              <a:path h="457924" w="335899">
                <a:moveTo>
                  <a:pt x="0" y="0"/>
                </a:moveTo>
                <a:lnTo>
                  <a:pt x="335899" y="0"/>
                </a:lnTo>
                <a:lnTo>
                  <a:pt x="335899" y="457924"/>
                </a:lnTo>
                <a:lnTo>
                  <a:pt x="0" y="457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7795" y="566166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292" y="3677669"/>
            <a:ext cx="462905" cy="1139533"/>
          </a:xfrm>
          <a:custGeom>
            <a:avLst/>
            <a:gdLst/>
            <a:ahLst/>
            <a:cxnLst/>
            <a:rect r="r" b="b" t="t" l="l"/>
            <a:pathLst>
              <a:path h="1139533" w="462905">
                <a:moveTo>
                  <a:pt x="0" y="0"/>
                </a:moveTo>
                <a:lnTo>
                  <a:pt x="462905" y="0"/>
                </a:lnTo>
                <a:lnTo>
                  <a:pt x="462905" y="1139533"/>
                </a:lnTo>
                <a:lnTo>
                  <a:pt x="0" y="11395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292" y="-63503"/>
            <a:ext cx="1945872" cy="6984997"/>
          </a:xfrm>
          <a:custGeom>
            <a:avLst/>
            <a:gdLst/>
            <a:ahLst/>
            <a:cxnLst/>
            <a:rect r="r" b="b" t="t" l="l"/>
            <a:pathLst>
              <a:path h="6984997" w="1945872">
                <a:moveTo>
                  <a:pt x="0" y="0"/>
                </a:moveTo>
                <a:lnTo>
                  <a:pt x="1945872" y="0"/>
                </a:lnTo>
                <a:lnTo>
                  <a:pt x="1945872" y="6984997"/>
                </a:lnTo>
                <a:lnTo>
                  <a:pt x="0" y="69849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16737" y="161668"/>
            <a:ext cx="9141838" cy="600713"/>
          </a:xfrm>
          <a:custGeom>
            <a:avLst/>
            <a:gdLst/>
            <a:ahLst/>
            <a:cxnLst/>
            <a:rect r="r" b="b" t="t" l="l"/>
            <a:pathLst>
              <a:path h="600713" w="9141838">
                <a:moveTo>
                  <a:pt x="0" y="0"/>
                </a:moveTo>
                <a:lnTo>
                  <a:pt x="9141838" y="0"/>
                </a:lnTo>
                <a:lnTo>
                  <a:pt x="9141838" y="600713"/>
                </a:lnTo>
                <a:lnTo>
                  <a:pt x="0" y="60071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09610" y="639385"/>
            <a:ext cx="3193285" cy="1962407"/>
          </a:xfrm>
          <a:custGeom>
            <a:avLst/>
            <a:gdLst/>
            <a:ahLst/>
            <a:cxnLst/>
            <a:rect r="r" b="b" t="t" l="l"/>
            <a:pathLst>
              <a:path h="1962407" w="3193285">
                <a:moveTo>
                  <a:pt x="0" y="0"/>
                </a:moveTo>
                <a:lnTo>
                  <a:pt x="3193284" y="0"/>
                </a:lnTo>
                <a:lnTo>
                  <a:pt x="3193284" y="1962407"/>
                </a:lnTo>
                <a:lnTo>
                  <a:pt x="0" y="196240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462464" y="639385"/>
            <a:ext cx="3193285" cy="1962407"/>
          </a:xfrm>
          <a:custGeom>
            <a:avLst/>
            <a:gdLst/>
            <a:ahLst/>
            <a:cxnLst/>
            <a:rect r="r" b="b" t="t" l="l"/>
            <a:pathLst>
              <a:path h="1962407" w="3193285">
                <a:moveTo>
                  <a:pt x="0" y="0"/>
                </a:moveTo>
                <a:lnTo>
                  <a:pt x="3193284" y="0"/>
                </a:lnTo>
                <a:lnTo>
                  <a:pt x="3193284" y="1962407"/>
                </a:lnTo>
                <a:lnTo>
                  <a:pt x="0" y="196240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715184" y="639385"/>
            <a:ext cx="3193285" cy="1962407"/>
          </a:xfrm>
          <a:custGeom>
            <a:avLst/>
            <a:gdLst/>
            <a:ahLst/>
            <a:cxnLst/>
            <a:rect r="r" b="b" t="t" l="l"/>
            <a:pathLst>
              <a:path h="1962407" w="3193285">
                <a:moveTo>
                  <a:pt x="0" y="0"/>
                </a:moveTo>
                <a:lnTo>
                  <a:pt x="3193285" y="0"/>
                </a:lnTo>
                <a:lnTo>
                  <a:pt x="3193285" y="1962407"/>
                </a:lnTo>
                <a:lnTo>
                  <a:pt x="0" y="196240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462464" y="2670238"/>
            <a:ext cx="3193285" cy="1962407"/>
          </a:xfrm>
          <a:custGeom>
            <a:avLst/>
            <a:gdLst/>
            <a:ahLst/>
            <a:cxnLst/>
            <a:rect r="r" b="b" t="t" l="l"/>
            <a:pathLst>
              <a:path h="1962407" w="3193285">
                <a:moveTo>
                  <a:pt x="0" y="0"/>
                </a:moveTo>
                <a:lnTo>
                  <a:pt x="3193284" y="0"/>
                </a:lnTo>
                <a:lnTo>
                  <a:pt x="3193284" y="1962408"/>
                </a:lnTo>
                <a:lnTo>
                  <a:pt x="0" y="196240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715184" y="2670238"/>
            <a:ext cx="3193285" cy="1962407"/>
          </a:xfrm>
          <a:custGeom>
            <a:avLst/>
            <a:gdLst/>
            <a:ahLst/>
            <a:cxnLst/>
            <a:rect r="r" b="b" t="t" l="l"/>
            <a:pathLst>
              <a:path h="1962407" w="3193285">
                <a:moveTo>
                  <a:pt x="0" y="0"/>
                </a:moveTo>
                <a:lnTo>
                  <a:pt x="3193285" y="0"/>
                </a:lnTo>
                <a:lnTo>
                  <a:pt x="3193285" y="1962408"/>
                </a:lnTo>
                <a:lnTo>
                  <a:pt x="0" y="196240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209610" y="4701111"/>
            <a:ext cx="3193285" cy="1962407"/>
          </a:xfrm>
          <a:custGeom>
            <a:avLst/>
            <a:gdLst/>
            <a:ahLst/>
            <a:cxnLst/>
            <a:rect r="r" b="b" t="t" l="l"/>
            <a:pathLst>
              <a:path h="1962407" w="3193285">
                <a:moveTo>
                  <a:pt x="0" y="0"/>
                </a:moveTo>
                <a:lnTo>
                  <a:pt x="3193284" y="0"/>
                </a:lnTo>
                <a:lnTo>
                  <a:pt x="3193284" y="1962408"/>
                </a:lnTo>
                <a:lnTo>
                  <a:pt x="0" y="196240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2238251" y="667893"/>
            <a:ext cx="3136135" cy="1905257"/>
            <a:chOff x="0" y="0"/>
            <a:chExt cx="4181513" cy="25403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81475" cy="2540381"/>
            </a:xfrm>
            <a:custGeom>
              <a:avLst/>
              <a:gdLst/>
              <a:ahLst/>
              <a:cxnLst/>
              <a:rect r="r" b="b" t="t" l="l"/>
              <a:pathLst>
                <a:path h="2540381" w="4181475">
                  <a:moveTo>
                    <a:pt x="0" y="0"/>
                  </a:moveTo>
                  <a:lnTo>
                    <a:pt x="4181475" y="0"/>
                  </a:lnTo>
                  <a:lnTo>
                    <a:pt x="4181475" y="2540381"/>
                  </a:lnTo>
                  <a:lnTo>
                    <a:pt x="0" y="2540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490972" y="667893"/>
            <a:ext cx="3136135" cy="1905257"/>
            <a:chOff x="0" y="0"/>
            <a:chExt cx="4181513" cy="25403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81475" cy="2540381"/>
            </a:xfrm>
            <a:custGeom>
              <a:avLst/>
              <a:gdLst/>
              <a:ahLst/>
              <a:cxnLst/>
              <a:rect r="r" b="b" t="t" l="l"/>
              <a:pathLst>
                <a:path h="2540381" w="4181475">
                  <a:moveTo>
                    <a:pt x="0" y="0"/>
                  </a:moveTo>
                  <a:lnTo>
                    <a:pt x="4181475" y="0"/>
                  </a:lnTo>
                  <a:lnTo>
                    <a:pt x="4181475" y="2540381"/>
                  </a:lnTo>
                  <a:lnTo>
                    <a:pt x="0" y="2540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743693" y="667893"/>
            <a:ext cx="3136135" cy="1905257"/>
            <a:chOff x="0" y="0"/>
            <a:chExt cx="4181513" cy="254034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81475" cy="2540381"/>
            </a:xfrm>
            <a:custGeom>
              <a:avLst/>
              <a:gdLst/>
              <a:ahLst/>
              <a:cxnLst/>
              <a:rect r="r" b="b" t="t" l="l"/>
              <a:pathLst>
                <a:path h="2540381" w="4181475">
                  <a:moveTo>
                    <a:pt x="0" y="0"/>
                  </a:moveTo>
                  <a:lnTo>
                    <a:pt x="4181475" y="0"/>
                  </a:lnTo>
                  <a:lnTo>
                    <a:pt x="4181475" y="2540381"/>
                  </a:lnTo>
                  <a:lnTo>
                    <a:pt x="0" y="2540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1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238251" y="2698747"/>
            <a:ext cx="3136135" cy="1905257"/>
            <a:chOff x="0" y="0"/>
            <a:chExt cx="4181513" cy="254034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81475" cy="2540381"/>
            </a:xfrm>
            <a:custGeom>
              <a:avLst/>
              <a:gdLst/>
              <a:ahLst/>
              <a:cxnLst/>
              <a:rect r="r" b="b" t="t" l="l"/>
              <a:pathLst>
                <a:path h="2540381" w="4181475">
                  <a:moveTo>
                    <a:pt x="0" y="0"/>
                  </a:moveTo>
                  <a:lnTo>
                    <a:pt x="4181475" y="0"/>
                  </a:lnTo>
                  <a:lnTo>
                    <a:pt x="4181475" y="2540381"/>
                  </a:lnTo>
                  <a:lnTo>
                    <a:pt x="0" y="2540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1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490972" y="2698747"/>
            <a:ext cx="3136135" cy="1905257"/>
            <a:chOff x="0" y="0"/>
            <a:chExt cx="4181513" cy="254034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81475" cy="2540381"/>
            </a:xfrm>
            <a:custGeom>
              <a:avLst/>
              <a:gdLst/>
              <a:ahLst/>
              <a:cxnLst/>
              <a:rect r="r" b="b" t="t" l="l"/>
              <a:pathLst>
                <a:path h="2540381" w="4181475">
                  <a:moveTo>
                    <a:pt x="0" y="0"/>
                  </a:moveTo>
                  <a:lnTo>
                    <a:pt x="4181475" y="0"/>
                  </a:lnTo>
                  <a:lnTo>
                    <a:pt x="4181475" y="2540381"/>
                  </a:lnTo>
                  <a:lnTo>
                    <a:pt x="0" y="2540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1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743693" y="2698747"/>
            <a:ext cx="3136135" cy="1905257"/>
            <a:chOff x="0" y="0"/>
            <a:chExt cx="4181513" cy="254034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181475" cy="2540381"/>
            </a:xfrm>
            <a:custGeom>
              <a:avLst/>
              <a:gdLst/>
              <a:ahLst/>
              <a:cxnLst/>
              <a:rect r="r" b="b" t="t" l="l"/>
              <a:pathLst>
                <a:path h="2540381" w="4181475">
                  <a:moveTo>
                    <a:pt x="0" y="0"/>
                  </a:moveTo>
                  <a:lnTo>
                    <a:pt x="4181475" y="0"/>
                  </a:lnTo>
                  <a:lnTo>
                    <a:pt x="4181475" y="2540381"/>
                  </a:lnTo>
                  <a:lnTo>
                    <a:pt x="0" y="2540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0" b="1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238251" y="4729686"/>
            <a:ext cx="3136135" cy="1905257"/>
            <a:chOff x="0" y="0"/>
            <a:chExt cx="4181513" cy="254034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81475" cy="2540381"/>
            </a:xfrm>
            <a:custGeom>
              <a:avLst/>
              <a:gdLst/>
              <a:ahLst/>
              <a:cxnLst/>
              <a:rect r="r" b="b" t="t" l="l"/>
              <a:pathLst>
                <a:path h="2540381" w="4181475">
                  <a:moveTo>
                    <a:pt x="0" y="0"/>
                  </a:moveTo>
                  <a:lnTo>
                    <a:pt x="4181475" y="0"/>
                  </a:lnTo>
                  <a:lnTo>
                    <a:pt x="4181475" y="2540381"/>
                  </a:lnTo>
                  <a:lnTo>
                    <a:pt x="0" y="2540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0" b="1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490972" y="4751651"/>
            <a:ext cx="3136135" cy="1905257"/>
            <a:chOff x="0" y="0"/>
            <a:chExt cx="4181513" cy="254034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181475" cy="2540381"/>
            </a:xfrm>
            <a:custGeom>
              <a:avLst/>
              <a:gdLst/>
              <a:ahLst/>
              <a:cxnLst/>
              <a:rect r="r" b="b" t="t" l="l"/>
              <a:pathLst>
                <a:path h="2540381" w="4181475">
                  <a:moveTo>
                    <a:pt x="0" y="0"/>
                  </a:moveTo>
                  <a:lnTo>
                    <a:pt x="4181475" y="0"/>
                  </a:lnTo>
                  <a:lnTo>
                    <a:pt x="4181475" y="2540381"/>
                  </a:lnTo>
                  <a:lnTo>
                    <a:pt x="0" y="2540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0" t="0" r="0" b="1"/>
              </a:stretch>
            </a:blipFill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5462464" y="4723076"/>
            <a:ext cx="3193285" cy="1962407"/>
          </a:xfrm>
          <a:custGeom>
            <a:avLst/>
            <a:gdLst/>
            <a:ahLst/>
            <a:cxnLst/>
            <a:rect r="r" b="b" t="t" l="l"/>
            <a:pathLst>
              <a:path h="1962407" w="3193285">
                <a:moveTo>
                  <a:pt x="0" y="0"/>
                </a:moveTo>
                <a:lnTo>
                  <a:pt x="3193284" y="0"/>
                </a:lnTo>
                <a:lnTo>
                  <a:pt x="3193284" y="1962407"/>
                </a:lnTo>
                <a:lnTo>
                  <a:pt x="0" y="196240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8804529" y="4720847"/>
            <a:ext cx="3139059" cy="1904571"/>
          </a:xfrm>
          <a:custGeom>
            <a:avLst/>
            <a:gdLst/>
            <a:ahLst/>
            <a:cxnLst/>
            <a:rect r="r" b="b" t="t" l="l"/>
            <a:pathLst>
              <a:path h="1904571" w="3139059">
                <a:moveTo>
                  <a:pt x="0" y="0"/>
                </a:moveTo>
                <a:lnTo>
                  <a:pt x="3139059" y="0"/>
                </a:lnTo>
                <a:lnTo>
                  <a:pt x="3139059" y="1904572"/>
                </a:lnTo>
                <a:lnTo>
                  <a:pt x="0" y="1904572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316992" y="641480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16992" y="1276607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16992" y="1911858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16992" y="2547109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16992" y="3182236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16992" y="4372232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84302" y="2545842"/>
            <a:ext cx="560546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Histórico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11429" y="3086605"/>
            <a:ext cx="769934" cy="39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Ferramenta Analítica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92531" y="1911601"/>
            <a:ext cx="94388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Ocorrências L2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11429" y="648462"/>
            <a:ext cx="927249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Ficha de perda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11429" y="3778758"/>
            <a:ext cx="95632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Planos de Ação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11429" y="1280922"/>
            <a:ext cx="1113625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Objeto da Análise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16992" y="3816858"/>
            <a:ext cx="78972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11429" y="4410713"/>
            <a:ext cx="453723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Anexos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382269" y="273177"/>
            <a:ext cx="7891872" cy="33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b="true" sz="1802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ESTRATIFICAÇÃO DAS REJEIÇÕES POR EQUIPAMENTO / SISTEMA – CORTADEIRA L2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934574" y="5451539"/>
            <a:ext cx="2630072" cy="446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404">
                <a:solidFill>
                  <a:srgbClr val="FF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* SELEÇÃO DOS PROBLEMAS PARA APROFUNDAMENTO DO ESTUDO.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795" y="566166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7795" y="1201169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7795" y="1836163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292" y="3677669"/>
            <a:ext cx="462905" cy="1139533"/>
          </a:xfrm>
          <a:custGeom>
            <a:avLst/>
            <a:gdLst/>
            <a:ahLst/>
            <a:cxnLst/>
            <a:rect r="r" b="b" t="t" l="l"/>
            <a:pathLst>
              <a:path h="1139533" w="462905">
                <a:moveTo>
                  <a:pt x="0" y="0"/>
                </a:moveTo>
                <a:lnTo>
                  <a:pt x="462905" y="0"/>
                </a:lnTo>
                <a:lnTo>
                  <a:pt x="462905" y="1139533"/>
                </a:lnTo>
                <a:lnTo>
                  <a:pt x="0" y="11395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292" y="2407663"/>
            <a:ext cx="1742856" cy="1245489"/>
          </a:xfrm>
          <a:custGeom>
            <a:avLst/>
            <a:gdLst/>
            <a:ahLst/>
            <a:cxnLst/>
            <a:rect r="r" b="b" t="t" l="l"/>
            <a:pathLst>
              <a:path h="1245489" w="1742856">
                <a:moveTo>
                  <a:pt x="0" y="0"/>
                </a:moveTo>
                <a:lnTo>
                  <a:pt x="1742856" y="0"/>
                </a:lnTo>
                <a:lnTo>
                  <a:pt x="1742856" y="1245489"/>
                </a:lnTo>
                <a:lnTo>
                  <a:pt x="0" y="12454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14592" y="-63503"/>
            <a:ext cx="10202789" cy="6984997"/>
          </a:xfrm>
          <a:custGeom>
            <a:avLst/>
            <a:gdLst/>
            <a:ahLst/>
            <a:cxnLst/>
            <a:rect r="r" b="b" t="t" l="l"/>
            <a:pathLst>
              <a:path h="6984997" w="10202789">
                <a:moveTo>
                  <a:pt x="0" y="0"/>
                </a:moveTo>
                <a:lnTo>
                  <a:pt x="10202789" y="0"/>
                </a:lnTo>
                <a:lnTo>
                  <a:pt x="10202789" y="6984997"/>
                </a:lnTo>
                <a:lnTo>
                  <a:pt x="0" y="69849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49681" y="175765"/>
            <a:ext cx="5043668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ANÁLISE POR ÁRVORE DE FALHAS (FTA)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26414" y="826789"/>
            <a:ext cx="39757" cy="20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54397" y="826789"/>
            <a:ext cx="1512932" cy="20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ELEVADOTEMPO DE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89221" y="994429"/>
            <a:ext cx="2015614" cy="20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REJEIÇÕES CORTADEIRA L1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41491" y="2824382"/>
            <a:ext cx="189767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63266" y="2185692"/>
            <a:ext cx="1367199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"/>
              </a:lnSpc>
            </a:pPr>
            <a:r>
              <a:rPr lang="en-US" b="true" sz="11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EMBOLAMENTOS EM CAIXAS DE FORMAÇÃO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01583" y="1490243"/>
            <a:ext cx="189767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93253" y="2824382"/>
            <a:ext cx="189767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42832" y="2157498"/>
            <a:ext cx="1322803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FOLHAS DESLOCADAS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10472" y="2325138"/>
            <a:ext cx="950852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 spc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POR ROLDANAS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783825" y="2335178"/>
            <a:ext cx="86668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6992" y="641480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16992" y="1276607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16992" y="1911858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16992" y="2547109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16992" y="3182236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16992" y="4372232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84302" y="2545842"/>
            <a:ext cx="560546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Histórico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92531" y="1911601"/>
            <a:ext cx="691277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Ocorrência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11429" y="3086605"/>
            <a:ext cx="1097070" cy="39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Ferramenta AnalíticaCort. L1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11429" y="648462"/>
            <a:ext cx="927249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Ficha de perda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11429" y="3778758"/>
            <a:ext cx="95632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Planos de Ação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11429" y="1280922"/>
            <a:ext cx="1113625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Objeto da Análise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16992" y="3816858"/>
            <a:ext cx="78972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11429" y="4410713"/>
            <a:ext cx="453723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Anexos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328415" y="3694881"/>
            <a:ext cx="500205" cy="42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"/>
              </a:lnSpc>
            </a:pPr>
            <a:r>
              <a:rPr lang="en-US" b="true" sz="902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FALHA DE CORTE FARDO /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432047" y="4087816"/>
            <a:ext cx="264652" cy="16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CAPA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639056" y="3763966"/>
            <a:ext cx="621287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"/>
              </a:lnSpc>
            </a:pPr>
            <a:r>
              <a:rPr lang="en-US" b="true" sz="9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PERFIL GUIA FOLHA COM DESGASTE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508886" y="3794217"/>
            <a:ext cx="506692" cy="24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DESAJUSTE DAS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499742" y="4019007"/>
            <a:ext cx="502834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 spc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DIVISÓRIAS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760720" y="3783930"/>
            <a:ext cx="641861" cy="3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"/>
              </a:lnSpc>
            </a:pPr>
            <a:r>
              <a:rPr lang="en-US" b="true" sz="804" spc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AJUSTE INADEQUADO DE</a:t>
            </a:r>
            <a:r>
              <a:rPr lang="en-US" b="true" sz="804" spc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804" spc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ROLDANAS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888223" y="3783930"/>
            <a:ext cx="655834" cy="3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FIXAÇÃO / TRAVAMENTO DE</a:t>
            </a:r>
            <a:r>
              <a:rPr lang="en-US" b="true" sz="804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ROLDANAS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144513" y="3783930"/>
            <a:ext cx="641861" cy="3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"/>
              </a:lnSpc>
            </a:pPr>
            <a:r>
              <a:rPr lang="en-US" b="true" sz="804" spc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AJUSTE INADEQUADO DE</a:t>
            </a:r>
            <a:r>
              <a:rPr lang="en-US" b="true" sz="804" spc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804" spc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ROLDANAS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272016" y="3783930"/>
            <a:ext cx="656149" cy="3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FIXAÇÃO / TRAVAMENTO DE</a:t>
            </a:r>
            <a:r>
              <a:rPr lang="en-US" b="true" sz="804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ROLDANAS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543032" y="3642960"/>
            <a:ext cx="470868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 spc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DESGASTE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646664" y="3764880"/>
            <a:ext cx="234210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 spc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NÃO-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450068" y="3886800"/>
            <a:ext cx="660625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UNIFORME DO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462260" y="4027513"/>
            <a:ext cx="612353" cy="249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5"/>
              </a:lnSpc>
            </a:pPr>
            <a:r>
              <a:rPr lang="en-US" b="true" sz="80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REVESTIMENT 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795" y="566166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7795" y="1201169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7795" y="1836163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292" y="3677669"/>
            <a:ext cx="462905" cy="1139533"/>
          </a:xfrm>
          <a:custGeom>
            <a:avLst/>
            <a:gdLst/>
            <a:ahLst/>
            <a:cxnLst/>
            <a:rect r="r" b="b" t="t" l="l"/>
            <a:pathLst>
              <a:path h="1139533" w="462905">
                <a:moveTo>
                  <a:pt x="0" y="0"/>
                </a:moveTo>
                <a:lnTo>
                  <a:pt x="462905" y="0"/>
                </a:lnTo>
                <a:lnTo>
                  <a:pt x="462905" y="1139533"/>
                </a:lnTo>
                <a:lnTo>
                  <a:pt x="0" y="11395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292" y="2407663"/>
            <a:ext cx="1742856" cy="1245489"/>
          </a:xfrm>
          <a:custGeom>
            <a:avLst/>
            <a:gdLst/>
            <a:ahLst/>
            <a:cxnLst/>
            <a:rect r="r" b="b" t="t" l="l"/>
            <a:pathLst>
              <a:path h="1245489" w="1742856">
                <a:moveTo>
                  <a:pt x="0" y="0"/>
                </a:moveTo>
                <a:lnTo>
                  <a:pt x="1742856" y="0"/>
                </a:lnTo>
                <a:lnTo>
                  <a:pt x="1742856" y="1245489"/>
                </a:lnTo>
                <a:lnTo>
                  <a:pt x="0" y="12454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14592" y="-63503"/>
            <a:ext cx="10254929" cy="6984997"/>
          </a:xfrm>
          <a:custGeom>
            <a:avLst/>
            <a:gdLst/>
            <a:ahLst/>
            <a:cxnLst/>
            <a:rect r="r" b="b" t="t" l="l"/>
            <a:pathLst>
              <a:path h="6984997" w="10254929">
                <a:moveTo>
                  <a:pt x="0" y="0"/>
                </a:moveTo>
                <a:lnTo>
                  <a:pt x="10254929" y="0"/>
                </a:lnTo>
                <a:lnTo>
                  <a:pt x="10254929" y="6984997"/>
                </a:lnTo>
                <a:lnTo>
                  <a:pt x="0" y="69849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49681" y="175765"/>
            <a:ext cx="5043668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ANÁLISE POR ÁRVORE DE FALHAS (FTA)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13080" y="826789"/>
            <a:ext cx="39757" cy="20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41062" y="826789"/>
            <a:ext cx="1512922" cy="20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ELEVADOTEMPO DE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75886" y="994429"/>
            <a:ext cx="2015614" cy="20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REJEIÇÕES CORTADEIRA L1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6992" y="641480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6992" y="1276607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6992" y="1911858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6992" y="2547109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6992" y="3182236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6992" y="4372232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84302" y="2545842"/>
            <a:ext cx="560546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Histórico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2531" y="1911601"/>
            <a:ext cx="691277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Ocorrência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1429" y="3086605"/>
            <a:ext cx="1097070" cy="39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Ferramenta AnalíticaCort. L1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1429" y="648462"/>
            <a:ext cx="927249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Ficha de perda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1429" y="3778758"/>
            <a:ext cx="95632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Planos de Ação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11429" y="1280922"/>
            <a:ext cx="1113625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Objeto da Análise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16992" y="3816858"/>
            <a:ext cx="78972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11429" y="4410713"/>
            <a:ext cx="453723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Anexos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685289" y="2824382"/>
            <a:ext cx="189767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307337" y="2169690"/>
            <a:ext cx="1000658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PROBLEMAS EM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481073" y="2337330"/>
            <a:ext cx="612810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SENSORES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72627" y="2824382"/>
            <a:ext cx="189767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861305" y="2147726"/>
            <a:ext cx="646271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FALHA EM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565649" y="2315366"/>
            <a:ext cx="1217038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 spc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TRANSPORTADORES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382755" y="2824382"/>
            <a:ext cx="189767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822180" y="2169690"/>
            <a:ext cx="1363904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EMBOLAMENTOS NOS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35184" y="2337330"/>
            <a:ext cx="488528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GARFOS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354580" y="3763966"/>
            <a:ext cx="511607" cy="28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8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ATUAÇÃO INDEVIDA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292096" y="4019236"/>
            <a:ext cx="613467" cy="16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POR FOLHAS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541138" y="3694881"/>
            <a:ext cx="510254" cy="562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3"/>
              </a:lnSpc>
            </a:pPr>
            <a:r>
              <a:rPr lang="en-US" b="true" sz="90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  <a:p>
            <a:pPr algn="ctr">
              <a:lnSpc>
                <a:spcPts val="1083"/>
              </a:lnSpc>
            </a:pPr>
            <a:r>
              <a:rPr lang="en-US" b="true" sz="90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INDEVIDA POR SUJIDADE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539614" y="3675831"/>
            <a:ext cx="484651" cy="169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3"/>
              </a:lnSpc>
            </a:pPr>
            <a:r>
              <a:rPr lang="en-US" b="true" sz="90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ATUAÇÃO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741421" y="3794217"/>
            <a:ext cx="472221" cy="24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FIXAÇÃO / AJUSTE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639313" y="4019007"/>
            <a:ext cx="659892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INADEQUADOS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216652" y="5192354"/>
            <a:ext cx="658749" cy="24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"/>
              </a:lnSpc>
            </a:pPr>
            <a:r>
              <a:rPr lang="en-US" b="true" sz="804" spc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ATUAÇÃO INDEVIDA POR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282184" y="5417144"/>
            <a:ext cx="502834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 spc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DIVISÓRIAS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843646" y="3642960"/>
            <a:ext cx="648652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 spc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INTERTRAVAM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892414" y="3783930"/>
            <a:ext cx="573453" cy="3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ENTO POR FOLHAS QUE CAEM DO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992998" y="4130888"/>
            <a:ext cx="344738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 spc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LAYBOY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067418" y="3825840"/>
            <a:ext cx="581263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ATRASOS NA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267701" y="3836127"/>
            <a:ext cx="453676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PERDA DE 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167117" y="3958047"/>
            <a:ext cx="636041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SINCRONISMO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274551" y="3794217"/>
            <a:ext cx="656215" cy="24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"/>
              </a:lnSpc>
            </a:pPr>
            <a:r>
              <a:rPr lang="en-US" b="true" sz="804" spc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TRAVAMENTO DE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306555" y="4019007"/>
            <a:ext cx="569395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 spc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ROLAMENTO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340970" y="3775167"/>
            <a:ext cx="624068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DESNIVELAME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452222" y="3897087"/>
            <a:ext cx="419929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NTO DOS 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472034" y="4019007"/>
            <a:ext cx="356711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 spc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GARFOS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737222" y="3841728"/>
            <a:ext cx="613629" cy="236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4"/>
              </a:lnSpc>
            </a:pPr>
            <a:r>
              <a:rPr lang="en-US" b="true" sz="695" spc="2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PROBLEMAS DE ACIONAMENTO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053702" y="3947503"/>
            <a:ext cx="587902" cy="146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8"/>
              </a:lnSpc>
            </a:pPr>
            <a:r>
              <a:rPr lang="en-US" b="true" sz="80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TRANSLAÇÃO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121652" y="1530506"/>
            <a:ext cx="86858" cy="20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b="true" sz="1106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684765" y="1530506"/>
            <a:ext cx="80401" cy="20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b="true" sz="1106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795" y="566166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7795" y="1201169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7795" y="1836163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292" y="3677669"/>
            <a:ext cx="462905" cy="1139533"/>
          </a:xfrm>
          <a:custGeom>
            <a:avLst/>
            <a:gdLst/>
            <a:ahLst/>
            <a:cxnLst/>
            <a:rect r="r" b="b" t="t" l="l"/>
            <a:pathLst>
              <a:path h="1139533" w="462905">
                <a:moveTo>
                  <a:pt x="0" y="0"/>
                </a:moveTo>
                <a:lnTo>
                  <a:pt x="462905" y="0"/>
                </a:lnTo>
                <a:lnTo>
                  <a:pt x="462905" y="1139533"/>
                </a:lnTo>
                <a:lnTo>
                  <a:pt x="0" y="11395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292" y="2407663"/>
            <a:ext cx="1742856" cy="1245489"/>
          </a:xfrm>
          <a:custGeom>
            <a:avLst/>
            <a:gdLst/>
            <a:ahLst/>
            <a:cxnLst/>
            <a:rect r="r" b="b" t="t" l="l"/>
            <a:pathLst>
              <a:path h="1245489" w="1742856">
                <a:moveTo>
                  <a:pt x="0" y="0"/>
                </a:moveTo>
                <a:lnTo>
                  <a:pt x="1742856" y="0"/>
                </a:lnTo>
                <a:lnTo>
                  <a:pt x="1742856" y="1245489"/>
                </a:lnTo>
                <a:lnTo>
                  <a:pt x="0" y="12454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78085" y="0"/>
            <a:ext cx="28575" cy="6858000"/>
          </a:xfrm>
          <a:custGeom>
            <a:avLst/>
            <a:gdLst/>
            <a:ahLst/>
            <a:cxnLst/>
            <a:rect r="r" b="b" t="t" l="l"/>
            <a:pathLst>
              <a:path h="6858000" w="28575">
                <a:moveTo>
                  <a:pt x="0" y="0"/>
                </a:moveTo>
                <a:lnTo>
                  <a:pt x="28575" y="0"/>
                </a:lnTo>
                <a:lnTo>
                  <a:pt x="285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365124" y="751951"/>
            <a:ext cx="8157591" cy="3747021"/>
          </a:xfrm>
          <a:custGeom>
            <a:avLst/>
            <a:gdLst/>
            <a:ahLst/>
            <a:cxnLst/>
            <a:rect r="r" b="b" t="t" l="l"/>
            <a:pathLst>
              <a:path h="3747021" w="8157591">
                <a:moveTo>
                  <a:pt x="0" y="0"/>
                </a:moveTo>
                <a:lnTo>
                  <a:pt x="8157591" y="0"/>
                </a:lnTo>
                <a:lnTo>
                  <a:pt x="8157591" y="3747021"/>
                </a:lnTo>
                <a:lnTo>
                  <a:pt x="0" y="374702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49681" y="175765"/>
            <a:ext cx="5043668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ANÁLISE POR ÁRVORE DE FALHAS (FTA)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13080" y="826789"/>
            <a:ext cx="39757" cy="20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41062" y="826789"/>
            <a:ext cx="1512922" cy="20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ELEVADOTEMPO DE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175886" y="994429"/>
            <a:ext cx="2015614" cy="20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REJEIÇÕES CORTADEIRA L1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6992" y="641480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6992" y="1276607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6992" y="1911858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6992" y="2547109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6992" y="3182236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6992" y="4372232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84302" y="2545842"/>
            <a:ext cx="560546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Histórico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2531" y="1911601"/>
            <a:ext cx="691277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Ocorrência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1429" y="3086605"/>
            <a:ext cx="1097070" cy="39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Ferramenta AnalíticaCort. L1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1429" y="648462"/>
            <a:ext cx="927249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Ficha de perda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11429" y="3778758"/>
            <a:ext cx="95632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Planos de Ação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11429" y="1280922"/>
            <a:ext cx="1113625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Objeto da Análise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16992" y="3816858"/>
            <a:ext cx="78972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11429" y="4410713"/>
            <a:ext cx="453723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Anexos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78351" y="3813496"/>
            <a:ext cx="658711" cy="16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AJUSTES PÓS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678935" y="3950656"/>
            <a:ext cx="429739" cy="16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PARTIDA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818258" y="3694881"/>
            <a:ext cx="546906" cy="42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3"/>
              </a:lnSpc>
            </a:pPr>
            <a:r>
              <a:rPr lang="en-US" b="true" sz="90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  <a:p>
            <a:pPr algn="l">
              <a:lnSpc>
                <a:spcPts val="1083"/>
              </a:lnSpc>
            </a:pPr>
            <a:r>
              <a:rPr lang="en-US" b="true" sz="90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PRESSÃO / FLUXO DE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905126" y="4087816"/>
            <a:ext cx="345329" cy="16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VAPOR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988690" y="3763966"/>
            <a:ext cx="542239" cy="28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"/>
              </a:lnSpc>
            </a:pPr>
            <a:r>
              <a:rPr lang="en-US" b="true" sz="9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VARIAÇÃO DE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921634" y="4019236"/>
            <a:ext cx="651948" cy="16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GRAMATURA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269993" y="3813496"/>
            <a:ext cx="584092" cy="16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VARIAÇÕES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311141" y="3950656"/>
            <a:ext cx="473459" cy="16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 PERFIL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424671" y="3763966"/>
            <a:ext cx="647748" cy="28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"/>
              </a:lnSpc>
            </a:pPr>
            <a:r>
              <a:rPr lang="en-US" b="true" sz="9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DESGASTE ACENTUADO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467343" y="4019236"/>
            <a:ext cx="535248" cy="16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DAS FACAS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599675" y="3813496"/>
            <a:ext cx="632250" cy="16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PROBLEMAS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646919" y="3950656"/>
            <a:ext cx="509245" cy="16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 AJUSTE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821306" y="3675831"/>
            <a:ext cx="515750" cy="169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3"/>
              </a:lnSpc>
            </a:pPr>
            <a:r>
              <a:rPr lang="en-US" b="true" sz="90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VARIAÇÃO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981955" y="2824382"/>
            <a:ext cx="190071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456175" y="2169690"/>
            <a:ext cx="1290971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EMBOLAMENTO POR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436363" y="2337330"/>
            <a:ext cx="1298553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VARIAÇÕES DE PERFIL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637402" y="2824382"/>
            <a:ext cx="189767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203062" y="2169690"/>
            <a:ext cx="1104195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FALHAS DE CORTE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259450" y="2337330"/>
            <a:ext cx="957891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LONGITUDINAIS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124700" y="1530506"/>
            <a:ext cx="80401" cy="20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b="true" sz="1106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738360" y="3794217"/>
            <a:ext cx="556727" cy="24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PRESSÃO DE ENCOSTO 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709404" y="4019007"/>
            <a:ext cx="594893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 spc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INSUFICIENTE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795" y="566166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7795" y="1201169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7795" y="1836163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292" y="3677669"/>
            <a:ext cx="462905" cy="1139533"/>
          </a:xfrm>
          <a:custGeom>
            <a:avLst/>
            <a:gdLst/>
            <a:ahLst/>
            <a:cxnLst/>
            <a:rect r="r" b="b" t="t" l="l"/>
            <a:pathLst>
              <a:path h="1139533" w="462905">
                <a:moveTo>
                  <a:pt x="0" y="0"/>
                </a:moveTo>
                <a:lnTo>
                  <a:pt x="462905" y="0"/>
                </a:lnTo>
                <a:lnTo>
                  <a:pt x="462905" y="1139533"/>
                </a:lnTo>
                <a:lnTo>
                  <a:pt x="0" y="11395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292" y="2407663"/>
            <a:ext cx="1742856" cy="1245489"/>
          </a:xfrm>
          <a:custGeom>
            <a:avLst/>
            <a:gdLst/>
            <a:ahLst/>
            <a:cxnLst/>
            <a:rect r="r" b="b" t="t" l="l"/>
            <a:pathLst>
              <a:path h="1245489" w="1742856">
                <a:moveTo>
                  <a:pt x="0" y="0"/>
                </a:moveTo>
                <a:lnTo>
                  <a:pt x="1742856" y="0"/>
                </a:lnTo>
                <a:lnTo>
                  <a:pt x="1742856" y="1245489"/>
                </a:lnTo>
                <a:lnTo>
                  <a:pt x="0" y="12454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14592" y="-63503"/>
            <a:ext cx="10278932" cy="6984997"/>
          </a:xfrm>
          <a:custGeom>
            <a:avLst/>
            <a:gdLst/>
            <a:ahLst/>
            <a:cxnLst/>
            <a:rect r="r" b="b" t="t" l="l"/>
            <a:pathLst>
              <a:path h="6984997" w="10278932">
                <a:moveTo>
                  <a:pt x="0" y="0"/>
                </a:moveTo>
                <a:lnTo>
                  <a:pt x="10278932" y="0"/>
                </a:lnTo>
                <a:lnTo>
                  <a:pt x="10278932" y="6984997"/>
                </a:lnTo>
                <a:lnTo>
                  <a:pt x="0" y="69849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49681" y="-81410"/>
            <a:ext cx="5043668" cy="113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000"/>
              </a:lnSpc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ANÁLISE POR ÁRVORE DE FALHAS (FTA)</a:t>
            </a:r>
          </a:p>
          <a:p>
            <a:pPr algn="r">
              <a:lnSpc>
                <a:spcPts val="2760"/>
              </a:lnSpc>
            </a:pPr>
            <a:r>
              <a:rPr lang="en-US" b="true" sz="110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67218" y="826789"/>
            <a:ext cx="1512932" cy="20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ELEVADOTEMPO DE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02042" y="994429"/>
            <a:ext cx="2015614" cy="20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REJEIÇÕES CORTADEIRA L2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6992" y="641480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6992" y="1276607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6992" y="1911858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6992" y="2547109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6992" y="3182236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6992" y="4372232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4302" y="2545842"/>
            <a:ext cx="560546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Histórico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2531" y="1911601"/>
            <a:ext cx="691277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Ocorrência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1429" y="3086605"/>
            <a:ext cx="1097070" cy="39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Ferramenta AnalíticaCort. L2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1429" y="648462"/>
            <a:ext cx="927249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Ficha de perda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1429" y="3778758"/>
            <a:ext cx="95632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Planos de Ação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1429" y="1280922"/>
            <a:ext cx="1113625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Objeto da Análise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16992" y="3816858"/>
            <a:ext cx="78972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11429" y="4410713"/>
            <a:ext cx="453723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Anexos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841491" y="2824382"/>
            <a:ext cx="189767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263266" y="2185692"/>
            <a:ext cx="1367199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"/>
              </a:lnSpc>
            </a:pPr>
            <a:r>
              <a:rPr lang="en-US" b="true" sz="11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EMBOLAMENTOS EM CAIXAS DE FORMAÇÃO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101583" y="1490243"/>
            <a:ext cx="189767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365866" y="2824382"/>
            <a:ext cx="189767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832218" y="2157498"/>
            <a:ext cx="1287399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EMBOLAMENTOS NA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066914" y="2325138"/>
            <a:ext cx="777554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 spc="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CORTADEIRA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783825" y="2335178"/>
            <a:ext cx="86668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328415" y="3694881"/>
            <a:ext cx="500205" cy="42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"/>
              </a:lnSpc>
            </a:pPr>
            <a:r>
              <a:rPr lang="en-US" b="true" sz="902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FALHA DE CORTE FARDO /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432047" y="4087816"/>
            <a:ext cx="264652" cy="16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CAPA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481454" y="3763966"/>
            <a:ext cx="565556" cy="28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DESAJUSTE DAS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472310" y="4019236"/>
            <a:ext cx="558679" cy="16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DIVISÓRIAS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639056" y="3763966"/>
            <a:ext cx="621287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"/>
              </a:lnSpc>
            </a:pPr>
            <a:r>
              <a:rPr lang="en-US" b="true" sz="9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PERFIL GUIA FOLHA COM DESGASTE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760720" y="3783930"/>
            <a:ext cx="641861" cy="3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"/>
              </a:lnSpc>
            </a:pPr>
            <a:r>
              <a:rPr lang="en-US" b="true" sz="804" spc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AJUSTE INADEQUADO DE</a:t>
            </a:r>
            <a:r>
              <a:rPr lang="en-US" b="true" sz="804" spc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804" spc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ROLDANAS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888223" y="3783930"/>
            <a:ext cx="655834" cy="3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FIXAÇÃO / TRAVAMENTO DE</a:t>
            </a:r>
            <a:r>
              <a:rPr lang="en-US" b="true" sz="804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ROLDANAS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016878" y="3783930"/>
            <a:ext cx="641861" cy="3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"/>
              </a:lnSpc>
            </a:pPr>
            <a:r>
              <a:rPr lang="en-US" b="true" sz="804" spc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AJUSTE INADEQUADO DE</a:t>
            </a:r>
            <a:r>
              <a:rPr lang="en-US" b="true" sz="804" spc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804" spc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ROLDANAS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144638" y="3783930"/>
            <a:ext cx="655834" cy="3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FIXAÇÃO / TRAVAMENTO DE</a:t>
            </a:r>
            <a:r>
              <a:rPr lang="en-US" b="true" sz="804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ROLDANAS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753496" y="3652742"/>
            <a:ext cx="23612" cy="146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8"/>
              </a:lnSpc>
            </a:pPr>
            <a:r>
              <a:rPr lang="en-US" b="true" sz="80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418702" y="3775167"/>
            <a:ext cx="233953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NÃO-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22106" y="3897087"/>
            <a:ext cx="660625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UNIFORME DO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234298" y="4038057"/>
            <a:ext cx="612296" cy="24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REVESTIMENT 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419970" y="3703920"/>
            <a:ext cx="534295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DESGASTE /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357486" y="3844890"/>
            <a:ext cx="639689" cy="248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56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DESALINHAME NTO DE FITAS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493122" y="4069928"/>
            <a:ext cx="361607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LONGAS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315070" y="3652742"/>
            <a:ext cx="448456" cy="146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8"/>
              </a:lnSpc>
            </a:pPr>
            <a:r>
              <a:rPr lang="en-US" b="true" sz="80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DESGASTE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795" y="566166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7795" y="1201169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7795" y="1836163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292" y="3677669"/>
            <a:ext cx="462905" cy="1139533"/>
          </a:xfrm>
          <a:custGeom>
            <a:avLst/>
            <a:gdLst/>
            <a:ahLst/>
            <a:cxnLst/>
            <a:rect r="r" b="b" t="t" l="l"/>
            <a:pathLst>
              <a:path h="1139533" w="462905">
                <a:moveTo>
                  <a:pt x="0" y="0"/>
                </a:moveTo>
                <a:lnTo>
                  <a:pt x="462905" y="0"/>
                </a:lnTo>
                <a:lnTo>
                  <a:pt x="462905" y="1139533"/>
                </a:lnTo>
                <a:lnTo>
                  <a:pt x="0" y="11395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292" y="2407663"/>
            <a:ext cx="1742856" cy="1245489"/>
          </a:xfrm>
          <a:custGeom>
            <a:avLst/>
            <a:gdLst/>
            <a:ahLst/>
            <a:cxnLst/>
            <a:rect r="r" b="b" t="t" l="l"/>
            <a:pathLst>
              <a:path h="1245489" w="1742856">
                <a:moveTo>
                  <a:pt x="0" y="0"/>
                </a:moveTo>
                <a:lnTo>
                  <a:pt x="1742856" y="0"/>
                </a:lnTo>
                <a:lnTo>
                  <a:pt x="1742856" y="1245489"/>
                </a:lnTo>
                <a:lnTo>
                  <a:pt x="0" y="12454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14592" y="-63503"/>
            <a:ext cx="10214420" cy="6984997"/>
          </a:xfrm>
          <a:custGeom>
            <a:avLst/>
            <a:gdLst/>
            <a:ahLst/>
            <a:cxnLst/>
            <a:rect r="r" b="b" t="t" l="l"/>
            <a:pathLst>
              <a:path h="6984997" w="10214420">
                <a:moveTo>
                  <a:pt x="0" y="0"/>
                </a:moveTo>
                <a:lnTo>
                  <a:pt x="10214419" y="0"/>
                </a:lnTo>
                <a:lnTo>
                  <a:pt x="10214419" y="6984997"/>
                </a:lnTo>
                <a:lnTo>
                  <a:pt x="0" y="69849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49681" y="-81410"/>
            <a:ext cx="5043668" cy="113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000"/>
              </a:lnSpc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ANÁLISE POR ÁRVORE DE FALHAS (FTA)</a:t>
            </a:r>
          </a:p>
          <a:p>
            <a:pPr algn="r">
              <a:lnSpc>
                <a:spcPts val="2760"/>
              </a:lnSpc>
            </a:pPr>
            <a:r>
              <a:rPr lang="en-US" b="true" sz="110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67218" y="826789"/>
            <a:ext cx="1512932" cy="20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ELEVADOTEMPO DE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02042" y="994429"/>
            <a:ext cx="2015614" cy="20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REJEIÇÕES CORTADEIRA L2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6992" y="641480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6992" y="1276607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6992" y="1911858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6992" y="2547109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6992" y="3182236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6992" y="4372232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4302" y="2545842"/>
            <a:ext cx="560546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Histórico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2531" y="1911601"/>
            <a:ext cx="691277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Ocorrência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1429" y="3086605"/>
            <a:ext cx="1097070" cy="39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Ferramenta AnalíticaCort. L2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1429" y="648462"/>
            <a:ext cx="927249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Ficha de perda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1429" y="3778758"/>
            <a:ext cx="95632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Planos de Ação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1429" y="1280922"/>
            <a:ext cx="1113625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Objeto da Análise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16992" y="3816858"/>
            <a:ext cx="78972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11429" y="4410713"/>
            <a:ext cx="453723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Anexos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121652" y="1530506"/>
            <a:ext cx="86858" cy="20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b="true" sz="1106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875519" y="2171852"/>
            <a:ext cx="1104881" cy="20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b="true" sz="110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FALHAS DE CORTE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684765" y="1530506"/>
            <a:ext cx="80401" cy="20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b="true" sz="1106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660905" y="2824382"/>
            <a:ext cx="189767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282696" y="2169690"/>
            <a:ext cx="1000658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PROBLEMAS EM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456432" y="2337330"/>
            <a:ext cx="613524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SENSORES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312278" y="2849013"/>
            <a:ext cx="189767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985247" y="2339997"/>
            <a:ext cx="849068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TRANSVERSAL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330196" y="3763966"/>
            <a:ext cx="511350" cy="28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8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ATUAÇÃO INDEVIDA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267712" y="4019236"/>
            <a:ext cx="613200" cy="16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POR FOLHAS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516754" y="3694881"/>
            <a:ext cx="509864" cy="562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3"/>
              </a:lnSpc>
            </a:pPr>
            <a:r>
              <a:rPr lang="en-US" b="true" sz="90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  <a:p>
            <a:pPr algn="ctr">
              <a:lnSpc>
                <a:spcPts val="1083"/>
              </a:lnSpc>
            </a:pPr>
            <a:r>
              <a:rPr lang="en-US" b="true" sz="90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INDEVIDA POR SUJIDADE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515230" y="3675831"/>
            <a:ext cx="484651" cy="169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3"/>
              </a:lnSpc>
            </a:pPr>
            <a:r>
              <a:rPr lang="en-US" b="true" sz="90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ATUAÇÃO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717037" y="3794217"/>
            <a:ext cx="472221" cy="24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FIXAÇÃO / AJUSTE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614929" y="4019007"/>
            <a:ext cx="659892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INADEQUADOS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742432" y="3794217"/>
            <a:ext cx="658749" cy="24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"/>
              </a:lnSpc>
            </a:pPr>
            <a:r>
              <a:rPr lang="en-US" b="true" sz="804" spc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ATUAÇÃO INDEVIDA POR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807964" y="4019007"/>
            <a:ext cx="502834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 spc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DIVISÓRIAS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854952" y="3808562"/>
            <a:ext cx="668122" cy="24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DESGASTE DAS FACAS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851904" y="4033352"/>
            <a:ext cx="651977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TRANSVERSAIS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004048" y="3747602"/>
            <a:ext cx="638756" cy="24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"/>
              </a:lnSpc>
            </a:pPr>
            <a:r>
              <a:rPr lang="en-US" b="true" sz="804" spc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AJUSTE INADEQUADO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036052" y="3991442"/>
            <a:ext cx="549507" cy="24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 CONTRA- FACA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093708" y="3850472"/>
            <a:ext cx="658749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VARIAÇÕES DE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265920" y="3972392"/>
            <a:ext cx="285998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 spc="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PERFIL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238232" y="3747602"/>
            <a:ext cx="569081" cy="370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59"/>
              </a:lnSpc>
            </a:pPr>
            <a:r>
              <a:rPr lang="en-US" b="true" sz="804" spc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PROBLEMAS NO SISTEMA HIDRÁULICO 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197084" y="4094312"/>
            <a:ext cx="628736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CONTRA-FACA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472672" y="3728552"/>
            <a:ext cx="295265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 spc="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BAIXA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311128" y="3850472"/>
            <a:ext cx="602094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 spc="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TEMPERATUR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288268" y="3972392"/>
            <a:ext cx="673122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DO ROLO EM 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370564" y="4094312"/>
            <a:ext cx="481384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DIAS FRIOS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795" y="566166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7795" y="1201169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7795" y="1836163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292" y="3677669"/>
            <a:ext cx="462905" cy="1139533"/>
          </a:xfrm>
          <a:custGeom>
            <a:avLst/>
            <a:gdLst/>
            <a:ahLst/>
            <a:cxnLst/>
            <a:rect r="r" b="b" t="t" l="l"/>
            <a:pathLst>
              <a:path h="1139533" w="462905">
                <a:moveTo>
                  <a:pt x="0" y="0"/>
                </a:moveTo>
                <a:lnTo>
                  <a:pt x="462905" y="0"/>
                </a:lnTo>
                <a:lnTo>
                  <a:pt x="462905" y="1139533"/>
                </a:lnTo>
                <a:lnTo>
                  <a:pt x="0" y="11395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292" y="2407663"/>
            <a:ext cx="1742856" cy="1245489"/>
          </a:xfrm>
          <a:custGeom>
            <a:avLst/>
            <a:gdLst/>
            <a:ahLst/>
            <a:cxnLst/>
            <a:rect r="r" b="b" t="t" l="l"/>
            <a:pathLst>
              <a:path h="1245489" w="1742856">
                <a:moveTo>
                  <a:pt x="0" y="0"/>
                </a:moveTo>
                <a:lnTo>
                  <a:pt x="1742856" y="0"/>
                </a:lnTo>
                <a:lnTo>
                  <a:pt x="1742856" y="1245489"/>
                </a:lnTo>
                <a:lnTo>
                  <a:pt x="0" y="12454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14592" y="-63503"/>
            <a:ext cx="10100805" cy="6984997"/>
          </a:xfrm>
          <a:custGeom>
            <a:avLst/>
            <a:gdLst/>
            <a:ahLst/>
            <a:cxnLst/>
            <a:rect r="r" b="b" t="t" l="l"/>
            <a:pathLst>
              <a:path h="6984997" w="10100805">
                <a:moveTo>
                  <a:pt x="0" y="0"/>
                </a:moveTo>
                <a:lnTo>
                  <a:pt x="10100805" y="0"/>
                </a:lnTo>
                <a:lnTo>
                  <a:pt x="10100805" y="6984997"/>
                </a:lnTo>
                <a:lnTo>
                  <a:pt x="0" y="69849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49681" y="-81410"/>
            <a:ext cx="5043668" cy="113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000"/>
              </a:lnSpc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ANÁLISE POR ÁRVORE DE FALHAS (FTA)</a:t>
            </a:r>
          </a:p>
          <a:p>
            <a:pPr algn="r">
              <a:lnSpc>
                <a:spcPts val="2760"/>
              </a:lnSpc>
            </a:pPr>
            <a:r>
              <a:rPr lang="en-US" b="true" sz="110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67218" y="826789"/>
            <a:ext cx="1512932" cy="20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ELEVADOTEMPO DE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02042" y="994429"/>
            <a:ext cx="2015614" cy="20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REJEIÇÕES CORTADEIRA L2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6992" y="641480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6992" y="1276607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6992" y="1911858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6992" y="2547109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6992" y="3182236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6992" y="4372232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4302" y="2545842"/>
            <a:ext cx="560546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Histórico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2531" y="1911601"/>
            <a:ext cx="691277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Ocorrência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1429" y="3086605"/>
            <a:ext cx="1097070" cy="39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Ferramenta AnalíticaCort. L2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1429" y="648462"/>
            <a:ext cx="927249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Ficha de perda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1429" y="3778758"/>
            <a:ext cx="95632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Planos de Ação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1429" y="1280922"/>
            <a:ext cx="1113625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Objeto da Análise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16992" y="3816858"/>
            <a:ext cx="78972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11429" y="4410713"/>
            <a:ext cx="453723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Anexos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204342" y="3856549"/>
            <a:ext cx="658711" cy="16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AJUSTES PÓS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304926" y="3993709"/>
            <a:ext cx="429739" cy="16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PARTIDA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444240" y="3738439"/>
            <a:ext cx="54690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"/>
              </a:lnSpc>
            </a:pPr>
            <a:r>
              <a:rPr lang="en-US" b="true" sz="9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VARIAÇÃO PRESSÃO / FLUXO DE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531108" y="4130869"/>
            <a:ext cx="345329" cy="16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VAPOR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614672" y="3807019"/>
            <a:ext cx="542239" cy="28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"/>
              </a:lnSpc>
            </a:pPr>
            <a:r>
              <a:rPr lang="en-US" b="true" sz="9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VARIAÇÃO DE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547616" y="4062289"/>
            <a:ext cx="651948" cy="16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GRAMATURA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290186" y="3856549"/>
            <a:ext cx="584092" cy="16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VARIAÇÕES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331334" y="3993709"/>
            <a:ext cx="473459" cy="16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 PERFIL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444740" y="3807019"/>
            <a:ext cx="647748" cy="28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"/>
              </a:lnSpc>
            </a:pPr>
            <a:r>
              <a:rPr lang="en-US" b="true" sz="9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DESGASTE ACENTUADO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487412" y="4062289"/>
            <a:ext cx="535248" cy="16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DAS FACAS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619744" y="3856549"/>
            <a:ext cx="632250" cy="16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PROBLEMAS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666988" y="3993709"/>
            <a:ext cx="509245" cy="16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 AJUSTE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608194" y="2867301"/>
            <a:ext cx="189767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082414" y="2212619"/>
            <a:ext cx="1290971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EMBOLAMENTO POR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062602" y="2380259"/>
            <a:ext cx="1298553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VARIAÇÕES DE PERFIL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657462" y="2867301"/>
            <a:ext cx="189767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222874" y="2212619"/>
            <a:ext cx="1105624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FALHAS DE CORTE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279262" y="2380259"/>
            <a:ext cx="959758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LONGITUDINAIS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149970" y="1530506"/>
            <a:ext cx="80401" cy="20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b="true" sz="1106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686289" y="1530506"/>
            <a:ext cx="75819" cy="20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b="true" sz="1106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758429" y="3837270"/>
            <a:ext cx="556727" cy="24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PRESSÃO DE ENCOSTO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729473" y="4062060"/>
            <a:ext cx="594893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 spc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INSUFICIENTE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795" y="566166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7795" y="1201169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7795" y="1836163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292" y="3677669"/>
            <a:ext cx="462905" cy="1139533"/>
          </a:xfrm>
          <a:custGeom>
            <a:avLst/>
            <a:gdLst/>
            <a:ahLst/>
            <a:cxnLst/>
            <a:rect r="r" b="b" t="t" l="l"/>
            <a:pathLst>
              <a:path h="1139533" w="462905">
                <a:moveTo>
                  <a:pt x="0" y="0"/>
                </a:moveTo>
                <a:lnTo>
                  <a:pt x="462905" y="0"/>
                </a:lnTo>
                <a:lnTo>
                  <a:pt x="462905" y="1139533"/>
                </a:lnTo>
                <a:lnTo>
                  <a:pt x="0" y="11395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292" y="2407663"/>
            <a:ext cx="1742856" cy="1245489"/>
          </a:xfrm>
          <a:custGeom>
            <a:avLst/>
            <a:gdLst/>
            <a:ahLst/>
            <a:cxnLst/>
            <a:rect r="r" b="b" t="t" l="l"/>
            <a:pathLst>
              <a:path h="1245489" w="1742856">
                <a:moveTo>
                  <a:pt x="0" y="0"/>
                </a:moveTo>
                <a:lnTo>
                  <a:pt x="1742856" y="0"/>
                </a:lnTo>
                <a:lnTo>
                  <a:pt x="1742856" y="1245489"/>
                </a:lnTo>
                <a:lnTo>
                  <a:pt x="0" y="12454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78085" y="0"/>
            <a:ext cx="28575" cy="6858000"/>
          </a:xfrm>
          <a:custGeom>
            <a:avLst/>
            <a:gdLst/>
            <a:ahLst/>
            <a:cxnLst/>
            <a:rect r="r" b="b" t="t" l="l"/>
            <a:pathLst>
              <a:path h="6858000" w="28575">
                <a:moveTo>
                  <a:pt x="0" y="0"/>
                </a:moveTo>
                <a:lnTo>
                  <a:pt x="28575" y="0"/>
                </a:lnTo>
                <a:lnTo>
                  <a:pt x="285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101977" y="751951"/>
            <a:ext cx="7277605" cy="3742954"/>
          </a:xfrm>
          <a:custGeom>
            <a:avLst/>
            <a:gdLst/>
            <a:ahLst/>
            <a:cxnLst/>
            <a:rect r="r" b="b" t="t" l="l"/>
            <a:pathLst>
              <a:path h="3742954" w="7277605">
                <a:moveTo>
                  <a:pt x="0" y="0"/>
                </a:moveTo>
                <a:lnTo>
                  <a:pt x="7277605" y="0"/>
                </a:lnTo>
                <a:lnTo>
                  <a:pt x="7277605" y="3742954"/>
                </a:lnTo>
                <a:lnTo>
                  <a:pt x="0" y="37429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49681" y="-81410"/>
            <a:ext cx="5043668" cy="113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000"/>
              </a:lnSpc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ANÁLISE POR ÁRVORE DE FALHAS (FTA)</a:t>
            </a:r>
          </a:p>
          <a:p>
            <a:pPr algn="r">
              <a:lnSpc>
                <a:spcPts val="2760"/>
              </a:lnSpc>
            </a:pPr>
            <a:r>
              <a:rPr lang="en-US" b="true" sz="110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67218" y="826789"/>
            <a:ext cx="1512932" cy="20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ELEVADOTEMPO DE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02042" y="994429"/>
            <a:ext cx="2015614" cy="20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REJEIÇÕES CORTADEIRA L2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6992" y="641480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6992" y="1276607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6992" y="1911858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6992" y="2547109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6992" y="3182236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6992" y="4372232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84302" y="2545842"/>
            <a:ext cx="560546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Histórico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2531" y="1911601"/>
            <a:ext cx="691277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Ocorrência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1429" y="3086605"/>
            <a:ext cx="1097070" cy="39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Ferramenta AnalíticaCort. L2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1429" y="648462"/>
            <a:ext cx="927249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Ficha de perda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1429" y="3778758"/>
            <a:ext cx="95632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Planos de Ação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11429" y="1280922"/>
            <a:ext cx="1113625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Objeto da Análise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16992" y="3816858"/>
            <a:ext cx="78972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11429" y="4410713"/>
            <a:ext cx="453723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Anexos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639569" y="2820438"/>
            <a:ext cx="189767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078737" y="2165375"/>
            <a:ext cx="1363904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EMBOLAMENTOS NOS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702934" y="2820438"/>
            <a:ext cx="189767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178678" y="2165375"/>
            <a:ext cx="1288066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b="true" sz="11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EMBOLAMENTOS NA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491741" y="2332768"/>
            <a:ext cx="488871" cy="20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b="true" sz="110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GARFOS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151494" y="1530506"/>
            <a:ext cx="75819" cy="20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b="true" sz="1106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113146" y="2332768"/>
            <a:ext cx="1389517" cy="20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b="true" sz="110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BARREIRADEREJEIÇÃO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414016" y="3831936"/>
            <a:ext cx="453676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PERDA DE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313432" y="3953856"/>
            <a:ext cx="636041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SINCRONISMO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421123" y="3790026"/>
            <a:ext cx="655834" cy="24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"/>
              </a:lnSpc>
            </a:pPr>
            <a:r>
              <a:rPr lang="en-US" b="true" sz="804" spc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TRAVAMENTO DE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453127" y="4014816"/>
            <a:ext cx="569081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ROLAMENTO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487542" y="3790026"/>
            <a:ext cx="644985" cy="24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"/>
              </a:lnSpc>
            </a:pPr>
            <a:r>
              <a:rPr lang="en-US" b="true" sz="804" spc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DESNIVELAME NTO DA MESA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550026" y="4014816"/>
            <a:ext cx="495024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 GARFOS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477257" y="3831936"/>
            <a:ext cx="453676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PERDA DE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500117" y="3953856"/>
            <a:ext cx="385667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 spc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FIXAÇÃO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533132" y="3831936"/>
            <a:ext cx="557832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EMPENO DA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618476" y="3953856"/>
            <a:ext cx="358378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 spc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LÂMINA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649967" y="3831936"/>
            <a:ext cx="444513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FALHA DE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544811" y="3953856"/>
            <a:ext cx="636041" cy="14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8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SINCRONISMO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795" y="2471166"/>
            <a:ext cx="335899" cy="457924"/>
          </a:xfrm>
          <a:custGeom>
            <a:avLst/>
            <a:gdLst/>
            <a:ahLst/>
            <a:cxnLst/>
            <a:rect r="r" b="b" t="t" l="l"/>
            <a:pathLst>
              <a:path h="457924" w="335899">
                <a:moveTo>
                  <a:pt x="0" y="0"/>
                </a:moveTo>
                <a:lnTo>
                  <a:pt x="335899" y="0"/>
                </a:lnTo>
                <a:lnTo>
                  <a:pt x="335899" y="457924"/>
                </a:lnTo>
                <a:lnTo>
                  <a:pt x="0" y="457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7795" y="566166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7795" y="1201169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7795" y="1836163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292" y="-63503"/>
            <a:ext cx="1945872" cy="6984997"/>
          </a:xfrm>
          <a:custGeom>
            <a:avLst/>
            <a:gdLst/>
            <a:ahLst/>
            <a:cxnLst/>
            <a:rect r="r" b="b" t="t" l="l"/>
            <a:pathLst>
              <a:path h="6984997" w="1945872">
                <a:moveTo>
                  <a:pt x="0" y="0"/>
                </a:moveTo>
                <a:lnTo>
                  <a:pt x="1945872" y="0"/>
                </a:lnTo>
                <a:lnTo>
                  <a:pt x="1945872" y="6984997"/>
                </a:lnTo>
                <a:lnTo>
                  <a:pt x="0" y="69849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88137" y="879853"/>
            <a:ext cx="9908286" cy="4955515"/>
          </a:xfrm>
          <a:custGeom>
            <a:avLst/>
            <a:gdLst/>
            <a:ahLst/>
            <a:cxnLst/>
            <a:rect r="r" b="b" t="t" l="l"/>
            <a:pathLst>
              <a:path h="4955515" w="9908286">
                <a:moveTo>
                  <a:pt x="0" y="0"/>
                </a:moveTo>
                <a:lnTo>
                  <a:pt x="9908286" y="0"/>
                </a:lnTo>
                <a:lnTo>
                  <a:pt x="9908286" y="4955514"/>
                </a:lnTo>
                <a:lnTo>
                  <a:pt x="0" y="49555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49681" y="175765"/>
            <a:ext cx="4586107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PLANOS DE AÇÃO – CORTADEIRA L2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6992" y="641480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6992" y="1276607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6992" y="1911858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6992" y="2547109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6992" y="3182236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6992" y="4372232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0300" y="3686813"/>
            <a:ext cx="35204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b="true" sz="1202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1429" y="3870198"/>
            <a:ext cx="496814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1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Cort. L2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4302" y="2545842"/>
            <a:ext cx="560546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Histórico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2531" y="1911601"/>
            <a:ext cx="691277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Ocorrência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1429" y="3086605"/>
            <a:ext cx="769934" cy="39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Ferramenta Analítica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1429" y="648462"/>
            <a:ext cx="927249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Ficha de perda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1429" y="1280922"/>
            <a:ext cx="1113625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Objeto da Análise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41374" y="975236"/>
            <a:ext cx="667179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POR QUÊ?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29894" y="1158116"/>
            <a:ext cx="1540021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(qual a CAUSA que será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74318" y="1340996"/>
            <a:ext cx="802834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bloqueada’S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442717" y="1268606"/>
            <a:ext cx="1545774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b="true" sz="1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 QUE FAZER?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(qual a ação, seja direto)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483982" y="975236"/>
            <a:ext cx="453752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ONDE?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445882" y="1177166"/>
            <a:ext cx="565985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spc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(quando houver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328534" y="1542926"/>
            <a:ext cx="770553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abrangência 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329802" y="1268606"/>
            <a:ext cx="1515151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b="true" sz="1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COMO?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(como será feito a ação)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97083" y="1158116"/>
            <a:ext cx="491528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QUEM?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046207" y="1340996"/>
            <a:ext cx="833514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(responsável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77271" y="1523876"/>
            <a:ext cx="533343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 ação)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091671" y="1158116"/>
            <a:ext cx="676199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QUANDO?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108435" y="1340996"/>
            <a:ext cx="67837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(data para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091671" y="1523876"/>
            <a:ext cx="675884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conclusão)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195304" y="1340996"/>
            <a:ext cx="471783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STATUS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249681" y="2240175"/>
            <a:ext cx="1085888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FALHAS DE CORTE TRANSVERSAIS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249681" y="3234585"/>
            <a:ext cx="1085888" cy="376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FALHAS DE CORTE TRANSVERSAIS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249681" y="4016016"/>
            <a:ext cx="1085888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FALHAS DE CORTE TRANSVERSAIS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249681" y="4591326"/>
            <a:ext cx="1869738" cy="376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EMBOLAMENTOS NA BARREIRA DE</a:t>
            </a:r>
            <a:r>
              <a:rPr lang="en-US" sz="110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REJEIÇÃO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249681" y="5204993"/>
            <a:ext cx="1869738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EMBOLAMENTOS NA BARREIRA DE REJEIÇÃO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270248" y="2156355"/>
            <a:ext cx="1608315" cy="525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REALIZAR VERIFICAÇÃO DO SISTEMA HIDRÁULICO DA CONTRA-FACA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270248" y="3150765"/>
            <a:ext cx="1738503" cy="5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AVALIAR SUBSTITUIÇÃO DAS FACAS</a:t>
            </a:r>
            <a:r>
              <a:rPr lang="en-US" sz="110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VOADORAS</a:t>
            </a:r>
            <a:r>
              <a:rPr lang="en-US" sz="110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</a:t>
            </a:r>
            <a:r>
              <a:rPr lang="en-US" sz="110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CONTRA-</a:t>
            </a:r>
          </a:p>
          <a:p>
            <a:pPr algn="l">
              <a:lnSpc>
                <a:spcPts val="1545"/>
              </a:lnSpc>
              <a:spcBef>
                <a:spcPts val="2639"/>
              </a:spcBef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FACA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270248" y="4016016"/>
            <a:ext cx="1932089" cy="1714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INSPECIONAR FACAS VOADORAS E CONTRA-FACA COM MICROSCÓPIO</a:t>
            </a:r>
          </a:p>
          <a:p>
            <a:pPr algn="l">
              <a:lnSpc>
                <a:spcPts val="1320"/>
              </a:lnSpc>
              <a:spcBef>
                <a:spcPts val="719"/>
              </a:spcBef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VERIFICAR FOLGA DE FIXADORES DA LÂMINA DA BARREIRA DE REJEIÇÃO</a:t>
            </a:r>
          </a:p>
          <a:p>
            <a:pPr algn="l">
              <a:lnSpc>
                <a:spcPts val="1320"/>
              </a:lnSpc>
              <a:spcBef>
                <a:spcPts val="718"/>
              </a:spcBef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VERIFICAR SE HÁ EMPENO NA LÂMINA DA BARREIRA DE REJEIÇÃO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316094" y="2240175"/>
            <a:ext cx="787851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CORTADEIRA L2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316094" y="3234585"/>
            <a:ext cx="787851" cy="376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CORTADEIRA L2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316094" y="4016016"/>
            <a:ext cx="787851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CORTADEIRA L2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316094" y="4591326"/>
            <a:ext cx="787851" cy="376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CORTADEIRA L2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316094" y="5204993"/>
            <a:ext cx="787851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CORTADEIRA L2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858192" y="1969160"/>
            <a:ext cx="32395" cy="20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280405" y="2156355"/>
            <a:ext cx="1499140" cy="2217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HIDRÁULICAS, DOS ACUMULADORES, REALIZAR PURGA DO SISTEMA</a:t>
            </a:r>
          </a:p>
          <a:p>
            <a:pPr algn="l">
              <a:lnSpc>
                <a:spcPts val="1320"/>
              </a:lnSpc>
              <a:spcBef>
                <a:spcPts val="719"/>
              </a:spcBef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REALIZAR VERIFICAÇÕES NO SISTEMA DA CONTRA- FACA, CASO NÃO ENCONTRE ANOMALIAS SOLICITAR PARAA PARA TROCA</a:t>
            </a:r>
          </a:p>
          <a:p>
            <a:pPr algn="l">
              <a:lnSpc>
                <a:spcPts val="1320"/>
              </a:lnSpc>
              <a:spcBef>
                <a:spcPts val="719"/>
              </a:spcBef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AVALIAR CONDIÇÃO DO GUME DE CORTE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280405" y="4610376"/>
            <a:ext cx="1592732" cy="952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INSPECIONAR PARAFUSOS, VERIFICAR APERTO E APLICAR TRAVA QUÍMICA</a:t>
            </a:r>
          </a:p>
          <a:p>
            <a:pPr algn="l">
              <a:lnSpc>
                <a:spcPts val="1320"/>
              </a:lnSpc>
              <a:spcBef>
                <a:spcPts val="718"/>
              </a:spcBef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INSPEÇÃO VISUAL / MEDIÇÃO SE POSSÍVEL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046207" y="2240175"/>
            <a:ext cx="470364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RAFAEL SOUZA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046207" y="3234585"/>
            <a:ext cx="470364" cy="376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RAFAEL SOUZA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046207" y="4591326"/>
            <a:ext cx="470364" cy="376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RAFAEL SOUZA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046207" y="5204993"/>
            <a:ext cx="470364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RAFAEL SOUZA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046207" y="3996966"/>
            <a:ext cx="523713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 spc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MOACYR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013318" y="2304945"/>
            <a:ext cx="548983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 spc="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27/08/25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013318" y="4016016"/>
            <a:ext cx="801033" cy="1714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 spc="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 OPORTUNIDA DE</a:t>
            </a:r>
          </a:p>
          <a:p>
            <a:pPr algn="l">
              <a:lnSpc>
                <a:spcPts val="1320"/>
              </a:lnSpc>
              <a:spcBef>
                <a:spcPts val="719"/>
              </a:spcBef>
            </a:pPr>
            <a:r>
              <a:rPr lang="en-US" sz="1104" spc="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 OPORTUNIDA DE</a:t>
            </a:r>
          </a:p>
          <a:p>
            <a:pPr algn="l">
              <a:lnSpc>
                <a:spcPts val="1320"/>
              </a:lnSpc>
              <a:spcBef>
                <a:spcPts val="718"/>
              </a:spcBef>
            </a:pPr>
            <a:r>
              <a:rPr lang="en-US" sz="1104" spc="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 OPORTUNIDA DE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016358" y="2304945"/>
            <a:ext cx="550745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À INICIAR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016358" y="3996966"/>
            <a:ext cx="550745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À INICIAR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016358" y="4591326"/>
            <a:ext cx="550745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À INICIAR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016358" y="5185943"/>
            <a:ext cx="550745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À INICIAR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7280405" y="1969160"/>
            <a:ext cx="1203770" cy="20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CONFERIR</a:t>
            </a:r>
            <a:r>
              <a:rPr lang="en-US" sz="110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1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PRESSÕES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013318" y="3318158"/>
            <a:ext cx="548926" cy="20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 spc="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29/08/25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1016358" y="3318158"/>
            <a:ext cx="550364" cy="20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À INICIAR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316992" y="3816858"/>
            <a:ext cx="78972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611429" y="4410713"/>
            <a:ext cx="453723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Anexos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611429" y="3686813"/>
            <a:ext cx="1013831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b="true" sz="1202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Planosde Ação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795" y="2471166"/>
            <a:ext cx="335899" cy="457924"/>
          </a:xfrm>
          <a:custGeom>
            <a:avLst/>
            <a:gdLst/>
            <a:ahLst/>
            <a:cxnLst/>
            <a:rect r="r" b="b" t="t" l="l"/>
            <a:pathLst>
              <a:path h="457924" w="335899">
                <a:moveTo>
                  <a:pt x="0" y="0"/>
                </a:moveTo>
                <a:lnTo>
                  <a:pt x="335899" y="0"/>
                </a:lnTo>
                <a:lnTo>
                  <a:pt x="335899" y="457924"/>
                </a:lnTo>
                <a:lnTo>
                  <a:pt x="0" y="457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7795" y="566166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7795" y="1201169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7795" y="1836163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292" y="-63503"/>
            <a:ext cx="1945872" cy="6984997"/>
          </a:xfrm>
          <a:custGeom>
            <a:avLst/>
            <a:gdLst/>
            <a:ahLst/>
            <a:cxnLst/>
            <a:rect r="r" b="b" t="t" l="l"/>
            <a:pathLst>
              <a:path h="6984997" w="1945872">
                <a:moveTo>
                  <a:pt x="0" y="0"/>
                </a:moveTo>
                <a:lnTo>
                  <a:pt x="1945872" y="0"/>
                </a:lnTo>
                <a:lnTo>
                  <a:pt x="1945872" y="6984997"/>
                </a:lnTo>
                <a:lnTo>
                  <a:pt x="0" y="69849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88137" y="879853"/>
            <a:ext cx="9908286" cy="5985434"/>
          </a:xfrm>
          <a:custGeom>
            <a:avLst/>
            <a:gdLst/>
            <a:ahLst/>
            <a:cxnLst/>
            <a:rect r="r" b="b" t="t" l="l"/>
            <a:pathLst>
              <a:path h="5985434" w="9908286">
                <a:moveTo>
                  <a:pt x="0" y="0"/>
                </a:moveTo>
                <a:lnTo>
                  <a:pt x="9908286" y="0"/>
                </a:lnTo>
                <a:lnTo>
                  <a:pt x="9908286" y="5985434"/>
                </a:lnTo>
                <a:lnTo>
                  <a:pt x="0" y="5985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49681" y="175765"/>
            <a:ext cx="6987778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PLANOS DE AÇÃO – COMUNS ÀS CORTADEIRAS L1 E L2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6992" y="641480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6992" y="1276607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6992" y="1911858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6992" y="2547109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6992" y="3182236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6992" y="4372232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4302" y="2545842"/>
            <a:ext cx="560546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Histórico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92531" y="1911601"/>
            <a:ext cx="691277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Ocorrência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1429" y="3086605"/>
            <a:ext cx="769934" cy="39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Ferramenta Analítica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1429" y="648462"/>
            <a:ext cx="927249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Ficha de perda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0300" y="3635883"/>
            <a:ext cx="35204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b="true" sz="1202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1429" y="3838318"/>
            <a:ext cx="1072906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1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Comuns às duas Cortadeiras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1429" y="1280922"/>
            <a:ext cx="1113625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Objeto da Análise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41374" y="975236"/>
            <a:ext cx="667179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POR QUÊ?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29894" y="1158116"/>
            <a:ext cx="1540021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(qual a CAUSA que será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74318" y="1340996"/>
            <a:ext cx="801491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bloqueada’S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442717" y="1228982"/>
            <a:ext cx="1545774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b="true" sz="1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 QUE FAZER?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(qual a ação, seja direto)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509890" y="1027052"/>
            <a:ext cx="453752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ONDE?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471790" y="1228982"/>
            <a:ext cx="565985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spc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(quando houver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316094" y="1594742"/>
            <a:ext cx="853088" cy="673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5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abrangência)</a:t>
            </a:r>
          </a:p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CORTADEIRAS L1 E L2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354824" y="1228982"/>
            <a:ext cx="1513751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b="true" sz="1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COMO?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(como será feito a ação)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97083" y="1118492"/>
            <a:ext cx="491528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QUEM?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046207" y="1301372"/>
            <a:ext cx="833514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(responsável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77271" y="1484252"/>
            <a:ext cx="533343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 ação)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091671" y="1118492"/>
            <a:ext cx="676199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QUANDO?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108435" y="1301372"/>
            <a:ext cx="67837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(data para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091671" y="1484252"/>
            <a:ext cx="675884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conclusão)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195304" y="1301372"/>
            <a:ext cx="471783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STATUS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249681" y="3923814"/>
            <a:ext cx="885958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 FORMAÇÃO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249681" y="1909467"/>
            <a:ext cx="1085888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FALHAS DE CORTE TRANSVERSAIS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249681" y="2484777"/>
            <a:ext cx="1269806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VARIAÇÕES DE PERFIL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249681" y="4523889"/>
            <a:ext cx="1721577" cy="376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EMBOLAMENTOS EM CAIXAS DE</a:t>
            </a:r>
            <a:r>
              <a:rPr lang="en-US" sz="110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FORMAÇÃO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249681" y="5472913"/>
            <a:ext cx="1721577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EMBOLAMENTOS EM CAIXAS DE FORMAÇÃO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249681" y="6235217"/>
            <a:ext cx="1721577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EMBOLAMENTOS EM CAIXAS DE FORMAÇÃO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848034" y="3755546"/>
            <a:ext cx="32395" cy="20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270248" y="3923814"/>
            <a:ext cx="1430264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DAS CHAPAS DIVISÓRIAS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270248" y="4375299"/>
            <a:ext cx="1760477" cy="6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SUBSTITUIR / RECUPERAR PERFIS GUIA (BICOS DE PATO) QUE APRESENTAM DESGASTE EXCESSIVO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270248" y="5305320"/>
            <a:ext cx="1914220" cy="692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CONFERIR AJUSTES E CONDIÇÃO DAS ROLDANAS TRAÇÃO 1, TRAÇÃO 2, TRANSFERÊNCIA E KICK-OUT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270248" y="6235217"/>
            <a:ext cx="1810674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CONFERIR ALINHAMENTO DAS POLIAS E FITAS LONGAS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270248" y="1909467"/>
            <a:ext cx="1929946" cy="128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GARANTIR TEMPERATURA DO ROLO FACA EM DIAS DE BAIXA TEMPERATURA</a:t>
            </a:r>
          </a:p>
          <a:p>
            <a:pPr algn="l">
              <a:lnSpc>
                <a:spcPts val="1320"/>
              </a:lnSpc>
              <a:spcBef>
                <a:spcPts val="719"/>
              </a:spcBef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ALINHAMENTO COM OPERAÇÃO DO TG PARA EVENTOS QUE POSSAM VARIAR A PRESSÃO DE VAPOR PARA OS SECADORES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316094" y="3923814"/>
            <a:ext cx="399860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L1 E L2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316094" y="2484777"/>
            <a:ext cx="684886" cy="376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OPERAÇÃO TG’S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316094" y="4523889"/>
            <a:ext cx="852926" cy="376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CORTADEIRAS L1E</a:t>
            </a:r>
            <a:r>
              <a:rPr lang="en-US" sz="110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L2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316094" y="5472913"/>
            <a:ext cx="852926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CORTADEIRAS L1 E L2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316094" y="6235217"/>
            <a:ext cx="852926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CORTADEIRAS L1 E L2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331326" y="1909467"/>
            <a:ext cx="1585436" cy="4850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INSTALAÇÃO DE MAIS DUAS RESISTÊNCIAS PARA AQUECIMENTO DA ÁGUA</a:t>
            </a:r>
          </a:p>
          <a:p>
            <a:pPr algn="l">
              <a:lnSpc>
                <a:spcPts val="1320"/>
              </a:lnSpc>
              <a:spcBef>
                <a:spcPts val="719"/>
              </a:spcBef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VERIFICAR IMPLEMENTAÇÃO DE PROCEDIMENTO DE COMUNICAÇÃO / ALARMES PARA EVENTOS DE VARIAÇÃO DE PRESSÃO DE VAPOR</a:t>
            </a:r>
          </a:p>
          <a:p>
            <a:pPr algn="l">
              <a:lnSpc>
                <a:spcPts val="1320"/>
              </a:lnSpc>
              <a:spcBef>
                <a:spcPts val="719"/>
              </a:spcBef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VERIFICAR MEDIDAS E FIXAÇÃO DO SUPORTE</a:t>
            </a:r>
          </a:p>
          <a:p>
            <a:pPr algn="l">
              <a:lnSpc>
                <a:spcPts val="1320"/>
              </a:lnSpc>
              <a:spcBef>
                <a:spcPts val="812"/>
              </a:spcBef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VERIFICAR DISPONIBILIDADE DE PEÇAS SOBRESSALENTES / RECUPERAR SE NECESSÁRIO COM SOLDA E USINAGEM</a:t>
            </a:r>
          </a:p>
          <a:p>
            <a:pPr algn="l">
              <a:lnSpc>
                <a:spcPts val="1320"/>
              </a:lnSpc>
              <a:spcBef>
                <a:spcPts val="719"/>
              </a:spcBef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VERIFICAR FIXAÇÃO, DANOS EM ROLAMENTOS, REVESTIMENTO, POSIÇÃO E PRESSÃO DAS RODAS</a:t>
            </a:r>
          </a:p>
          <a:p>
            <a:pPr algn="l">
              <a:lnSpc>
                <a:spcPts val="1323"/>
              </a:lnSpc>
              <a:spcBef>
                <a:spcPts val="720"/>
              </a:spcBef>
            </a:pPr>
            <a:r>
              <a:rPr lang="en-US" sz="11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VERIFICAR SUPERFÍCIE E ROLAMENTO DAS POLIAS, CHECAR ALINHAMENTO DAS FITAS LONGAS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475899" y="6047975"/>
            <a:ext cx="32395" cy="20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046207" y="6216167"/>
            <a:ext cx="401869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SOUZA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046207" y="3769128"/>
            <a:ext cx="470364" cy="7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RAFAEL SOUZA</a:t>
            </a:r>
          </a:p>
          <a:p>
            <a:pPr algn="l">
              <a:lnSpc>
                <a:spcPts val="1320"/>
              </a:lnSpc>
              <a:spcBef>
                <a:spcPts val="812"/>
              </a:spcBef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RAFAEL SOUZA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046207" y="5305320"/>
            <a:ext cx="470364" cy="357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9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RAFAEL SOUZA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046207" y="1890417"/>
            <a:ext cx="576196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EVARISTO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046207" y="2484777"/>
            <a:ext cx="576196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EVARISTO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013318" y="3750078"/>
            <a:ext cx="148552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 spc="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PP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013318" y="4188609"/>
            <a:ext cx="148552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 spc="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PP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013318" y="5286270"/>
            <a:ext cx="148552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 spc="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PP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013318" y="1890417"/>
            <a:ext cx="164859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 spc="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PG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013318" y="2484777"/>
            <a:ext cx="548735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 spc="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30/09/25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1016358" y="1890417"/>
            <a:ext cx="550745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À INICIAR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016358" y="2484777"/>
            <a:ext cx="550745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À INICIAR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016358" y="3750078"/>
            <a:ext cx="550745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À INICIAR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016358" y="4188609"/>
            <a:ext cx="550745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À INICIAR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1016358" y="5286270"/>
            <a:ext cx="550745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À INICIAR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249681" y="3755546"/>
            <a:ext cx="1722168" cy="20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EMBOLAMENTOS EM CAIXAS 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4270248" y="3755546"/>
            <a:ext cx="1688344" cy="20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CONFERIR</a:t>
            </a:r>
            <a:r>
              <a:rPr lang="en-US" sz="110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1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AJUSTE</a:t>
            </a:r>
            <a:r>
              <a:rPr lang="en-US" sz="110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1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</a:t>
            </a:r>
            <a:r>
              <a:rPr lang="en-US" sz="110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1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FIXAÇÃO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6316094" y="3755546"/>
            <a:ext cx="853154" cy="20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CORTADEIRAS 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046207" y="6047975"/>
            <a:ext cx="437998" cy="20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RAFAEL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0013318" y="6047975"/>
            <a:ext cx="148714" cy="20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 spc="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PP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1016358" y="6047975"/>
            <a:ext cx="550364" cy="20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À INICIAR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316992" y="3816858"/>
            <a:ext cx="78972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611429" y="4410713"/>
            <a:ext cx="453723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Anexos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611429" y="3635883"/>
            <a:ext cx="978637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b="true" sz="1202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Planos</a:t>
            </a:r>
            <a:r>
              <a:rPr lang="en-US" b="true" sz="1202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1202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</a:t>
            </a:r>
            <a:r>
              <a:rPr lang="en-US" b="true" sz="1202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1202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Ação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795" y="2471166"/>
            <a:ext cx="335899" cy="457924"/>
          </a:xfrm>
          <a:custGeom>
            <a:avLst/>
            <a:gdLst/>
            <a:ahLst/>
            <a:cxnLst/>
            <a:rect r="r" b="b" t="t" l="l"/>
            <a:pathLst>
              <a:path h="457924" w="335899">
                <a:moveTo>
                  <a:pt x="0" y="0"/>
                </a:moveTo>
                <a:lnTo>
                  <a:pt x="335899" y="0"/>
                </a:lnTo>
                <a:lnTo>
                  <a:pt x="335899" y="457924"/>
                </a:lnTo>
                <a:lnTo>
                  <a:pt x="0" y="457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7795" y="566166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7795" y="1201169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7795" y="1836163"/>
            <a:ext cx="335899" cy="457800"/>
          </a:xfrm>
          <a:custGeom>
            <a:avLst/>
            <a:gdLst/>
            <a:ahLst/>
            <a:cxnLst/>
            <a:rect r="r" b="b" t="t" l="l"/>
            <a:pathLst>
              <a:path h="457800" w="335899">
                <a:moveTo>
                  <a:pt x="0" y="0"/>
                </a:moveTo>
                <a:lnTo>
                  <a:pt x="335899" y="0"/>
                </a:lnTo>
                <a:lnTo>
                  <a:pt x="335899" y="457800"/>
                </a:lnTo>
                <a:lnTo>
                  <a:pt x="0" y="457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292" y="-63503"/>
            <a:ext cx="1945872" cy="6984997"/>
          </a:xfrm>
          <a:custGeom>
            <a:avLst/>
            <a:gdLst/>
            <a:ahLst/>
            <a:cxnLst/>
            <a:rect r="r" b="b" t="t" l="l"/>
            <a:pathLst>
              <a:path h="6984997" w="1945872">
                <a:moveTo>
                  <a:pt x="0" y="0"/>
                </a:moveTo>
                <a:lnTo>
                  <a:pt x="1945872" y="0"/>
                </a:lnTo>
                <a:lnTo>
                  <a:pt x="1945872" y="6984997"/>
                </a:lnTo>
                <a:lnTo>
                  <a:pt x="0" y="69849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88137" y="879853"/>
            <a:ext cx="9908286" cy="5379339"/>
          </a:xfrm>
          <a:custGeom>
            <a:avLst/>
            <a:gdLst/>
            <a:ahLst/>
            <a:cxnLst/>
            <a:rect r="r" b="b" t="t" l="l"/>
            <a:pathLst>
              <a:path h="5379339" w="9908286">
                <a:moveTo>
                  <a:pt x="0" y="0"/>
                </a:moveTo>
                <a:lnTo>
                  <a:pt x="9908286" y="0"/>
                </a:lnTo>
                <a:lnTo>
                  <a:pt x="9908286" y="5379339"/>
                </a:lnTo>
                <a:lnTo>
                  <a:pt x="0" y="53793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49681" y="175765"/>
            <a:ext cx="6987778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PLANOS DE AÇÃO – COMUNS ÀS CORTADEIRAS L1 E L2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6992" y="641480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6992" y="1276607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6992" y="1911858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6992" y="2547109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6992" y="3182236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6992" y="4372232"/>
            <a:ext cx="7881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4302" y="2545842"/>
            <a:ext cx="560546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Histórico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92531" y="1911601"/>
            <a:ext cx="691277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Ocorrência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1429" y="3086605"/>
            <a:ext cx="769934" cy="39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Ferramenta Analítica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1429" y="648462"/>
            <a:ext cx="927249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Ficha de perda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0300" y="3635883"/>
            <a:ext cx="35204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b="true" sz="1202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1429" y="3838318"/>
            <a:ext cx="1072277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1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Comuns às duas Cortadeiras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1429" y="1280922"/>
            <a:ext cx="1113625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Objeto da Análise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41374" y="975236"/>
            <a:ext cx="667179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POR QUÊ?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29894" y="1158116"/>
            <a:ext cx="1540021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(qual a CAUSA que será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74318" y="1340996"/>
            <a:ext cx="801491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bloqueada’S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442717" y="1228982"/>
            <a:ext cx="1545774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b="true" sz="1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 QUE FAZER?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(qual a ação, seja direto)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509890" y="1027052"/>
            <a:ext cx="453752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ONDE?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471790" y="1228982"/>
            <a:ext cx="565985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spc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(quando houver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316094" y="1594742"/>
            <a:ext cx="852926" cy="673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5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abrangência)</a:t>
            </a:r>
          </a:p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CORTADEIRAS L1 E L2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354824" y="1228982"/>
            <a:ext cx="1513751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b="true" sz="1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COMO?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(como será feito a ação)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97083" y="1118492"/>
            <a:ext cx="491528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QUEM?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046207" y="1301372"/>
            <a:ext cx="833514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(responsável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77271" y="1484252"/>
            <a:ext cx="533343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 ação)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091671" y="1118492"/>
            <a:ext cx="676199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QUANDO?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108435" y="1301372"/>
            <a:ext cx="678370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(data para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091671" y="1484252"/>
            <a:ext cx="675884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conclusão)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195304" y="1301372"/>
            <a:ext cx="471783" cy="2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STATUS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249681" y="3833898"/>
            <a:ext cx="1085888" cy="376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FALHAS DE CORTE LONGITUDINAIS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249681" y="1890417"/>
            <a:ext cx="1576140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PROBLEMAS EM SENSORES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249681" y="2820438"/>
            <a:ext cx="1576140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PROBLEMAS EM SENSORES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249681" y="4763795"/>
            <a:ext cx="1808102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EMBOLAMENTOS NOS GARFOS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249681" y="5609920"/>
            <a:ext cx="1808102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EMBOLAMENTOS NOS GARFOS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270248" y="1909467"/>
            <a:ext cx="1629051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ESTABELECER ROTINA DE LIMPEZA DAS CORTADEIRAS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270248" y="3833898"/>
            <a:ext cx="1822828" cy="376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VERIFICAR DESGASTE E AJUSTE DAS</a:t>
            </a:r>
            <a:r>
              <a:rPr lang="en-US" sz="110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FACAS</a:t>
            </a:r>
            <a:r>
              <a:rPr lang="en-US" sz="110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LONGITUDINAIS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270248" y="5545150"/>
            <a:ext cx="1835706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VERIFICAR ALINHAMENTO DOS GARFOS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270248" y="4699025"/>
            <a:ext cx="1812674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INSPECIONAR GUIAS E RODAS LATERAIS DA MESA DE GARFOS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270248" y="2839488"/>
            <a:ext cx="1863757" cy="692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VERIFICAR CILINDROS DE SUBIDA / DESCIDA DAS CHAPAS DIVISÓRIAS, PARA EVITAR QUE ATUEM O SENSOR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316094" y="2839488"/>
            <a:ext cx="853088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CORTADEIRAS L1 E L2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316094" y="3833898"/>
            <a:ext cx="853088" cy="376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CORTADEIRAS L1E</a:t>
            </a:r>
            <a:r>
              <a:rPr lang="en-US" sz="110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L2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316094" y="4699025"/>
            <a:ext cx="853088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CORTADEIRAS L1 E L2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316094" y="5545150"/>
            <a:ext cx="853088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CORTADEIRAS L1 E L2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331326" y="1909467"/>
            <a:ext cx="1567558" cy="1455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ESTABELECER E CUMPRIR ROTINA DE LIMPEZA DAS CORTADEIRAS, LIMPANDO OS SENSORES APÓS A SOPRAGEM</a:t>
            </a:r>
          </a:p>
          <a:p>
            <a:pPr algn="l">
              <a:lnSpc>
                <a:spcPts val="1320"/>
              </a:lnSpc>
              <a:spcBef>
                <a:spcPts val="723"/>
              </a:spcBef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FAZER TESTE DE SUBIDA / DESCIDA DAS DIVISÓRIAS DE CAPAS E FARDOS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331326" y="3601488"/>
            <a:ext cx="1555690" cy="255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INSPECIONAR FACAS E VERIFICAR SE HÁ DESGASTE ACENTUADO, VERIFICAR SE HÁ VAZAMENTOS DE AR</a:t>
            </a:r>
          </a:p>
          <a:p>
            <a:pPr algn="l">
              <a:lnSpc>
                <a:spcPts val="1320"/>
              </a:lnSpc>
              <a:spcBef>
                <a:spcPts val="719"/>
              </a:spcBef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AVALIAR TRAVAMENTO / LUBRIFICAR RODAS LATERAIS DA MESA DE GARFOS</a:t>
            </a:r>
          </a:p>
          <a:p>
            <a:pPr algn="l">
              <a:lnSpc>
                <a:spcPts val="1320"/>
              </a:lnSpc>
              <a:spcBef>
                <a:spcPts val="719"/>
              </a:spcBef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UTILIZAR LINHA DE REFERÊNCIA PARA VERIFICAR ALINHAMENTO DOS GARFOS E CORRIGIR SE NECESSÁRIO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046207" y="2839488"/>
            <a:ext cx="518846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RENATO SABINO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046207" y="3601488"/>
            <a:ext cx="470364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RAFAEL SOUZA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046207" y="4531385"/>
            <a:ext cx="470364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RAFAEL SOUZA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046207" y="5274335"/>
            <a:ext cx="470364" cy="376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RAFAEL SOUZA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046207" y="1890417"/>
            <a:ext cx="576196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EVARISTO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013318" y="2820438"/>
            <a:ext cx="148552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 spc="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PP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013318" y="5274335"/>
            <a:ext cx="148552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 spc="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PP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013318" y="1890417"/>
            <a:ext cx="548735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 spc="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29/08/25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013318" y="3601488"/>
            <a:ext cx="800872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OPORTUNIDA DE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013318" y="4531385"/>
            <a:ext cx="800872" cy="3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OPORTUNIDA DE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016358" y="1890417"/>
            <a:ext cx="550745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À INICIAR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016358" y="2820438"/>
            <a:ext cx="550745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À INICIAR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016358" y="3582438"/>
            <a:ext cx="550745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À INICIAR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1016358" y="4512335"/>
            <a:ext cx="550745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À INICIAR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016358" y="5274335"/>
            <a:ext cx="550745" cy="20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À INICIAR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316992" y="3816858"/>
            <a:ext cx="78972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611429" y="4410713"/>
            <a:ext cx="453723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BFBFBF"/>
                </a:solidFill>
                <a:latin typeface="Calibri (MS)"/>
                <a:ea typeface="Calibri (MS)"/>
                <a:cs typeface="Calibri (MS)"/>
                <a:sym typeface="Calibri (MS)"/>
              </a:rPr>
              <a:t>Anexos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611429" y="3635883"/>
            <a:ext cx="978637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b="true" sz="1202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Planos</a:t>
            </a:r>
            <a:r>
              <a:rPr lang="en-US" b="true" sz="1202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1202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</a:t>
            </a:r>
            <a:r>
              <a:rPr lang="en-US" b="true" sz="1202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1202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Ação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9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8303" y="-63503"/>
            <a:ext cx="11887200" cy="6984997"/>
          </a:xfrm>
          <a:custGeom>
            <a:avLst/>
            <a:gdLst/>
            <a:ahLst/>
            <a:cxnLst/>
            <a:rect r="r" b="b" t="t" l="l"/>
            <a:pathLst>
              <a:path h="6984997" w="11887200">
                <a:moveTo>
                  <a:pt x="0" y="0"/>
                </a:moveTo>
                <a:lnTo>
                  <a:pt x="11887200" y="0"/>
                </a:lnTo>
                <a:lnTo>
                  <a:pt x="11887200" y="6984997"/>
                </a:lnTo>
                <a:lnTo>
                  <a:pt x="0" y="6984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1797" y="742436"/>
            <a:ext cx="1319584" cy="225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Projeto Cerrado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31797" y="5179533"/>
            <a:ext cx="5790047" cy="43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Origem: Análise de Falhas – Faixa 2 | Rejeições Jan–Ago/2025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Responsável pela análise: Moacyr Angeli Junior &amp; Ryan Lobato Piége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1797" y="2342836"/>
            <a:ext cx="4948742" cy="3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DESDOBRAMENTO DA ANÁLISE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1797" y="3090043"/>
            <a:ext cx="7197442" cy="52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Projeto de Data Analytics em Stream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99284" y="3687423"/>
            <a:ext cx="98822" cy="420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1797" y="3687423"/>
            <a:ext cx="7210873" cy="420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CortadeirasL1eL2 – Monitoramentocontínuo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947" y="5397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947" y="11874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947" y="18351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947" y="24828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7947" y="31305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947" y="37782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7947" y="44259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7947" y="50736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981200" y="0"/>
            <a:ext cx="25403" cy="6858000"/>
            <a:chOff x="0" y="0"/>
            <a:chExt cx="25400" cy="6858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4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25400">
                  <a:moveTo>
                    <a:pt x="0" y="6858000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6858000"/>
                  </a:lnTo>
                  <a:close/>
                </a:path>
              </a:pathLst>
            </a:custGeom>
            <a:solidFill>
              <a:srgbClr val="BFBFB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2316480" y="1198883"/>
            <a:ext cx="2301240" cy="1310640"/>
          </a:xfrm>
          <a:custGeom>
            <a:avLst/>
            <a:gdLst/>
            <a:ahLst/>
            <a:cxnLst/>
            <a:rect r="r" b="b" t="t" l="l"/>
            <a:pathLst>
              <a:path h="1310640" w="2301240">
                <a:moveTo>
                  <a:pt x="0" y="0"/>
                </a:moveTo>
                <a:lnTo>
                  <a:pt x="2301240" y="0"/>
                </a:lnTo>
                <a:lnTo>
                  <a:pt x="2301240" y="1310640"/>
                </a:lnTo>
                <a:lnTo>
                  <a:pt x="0" y="13106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425703" y="2984497"/>
            <a:ext cx="76200" cy="76200"/>
          </a:xfrm>
          <a:custGeom>
            <a:avLst/>
            <a:gdLst/>
            <a:ahLst/>
            <a:cxnLst/>
            <a:rect r="r" b="b" t="t" l="l"/>
            <a:pathLst>
              <a:path h="76200" w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425703" y="3384547"/>
            <a:ext cx="76200" cy="76200"/>
          </a:xfrm>
          <a:custGeom>
            <a:avLst/>
            <a:gdLst/>
            <a:ahLst/>
            <a:cxnLst/>
            <a:rect r="r" b="b" t="t" l="l"/>
            <a:pathLst>
              <a:path h="76200" w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425703" y="3784597"/>
            <a:ext cx="76200" cy="76200"/>
          </a:xfrm>
          <a:custGeom>
            <a:avLst/>
            <a:gdLst/>
            <a:ahLst/>
            <a:cxnLst/>
            <a:rect r="r" b="b" t="t" l="l"/>
            <a:pathLst>
              <a:path h="76200" w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425703" y="4359278"/>
            <a:ext cx="76200" cy="76200"/>
          </a:xfrm>
          <a:custGeom>
            <a:avLst/>
            <a:gdLst/>
            <a:ahLst/>
            <a:cxnLst/>
            <a:rect r="r" b="b" t="t" l="l"/>
            <a:pathLst>
              <a:path h="76200" w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627883" y="1198883"/>
            <a:ext cx="2301240" cy="1310640"/>
          </a:xfrm>
          <a:custGeom>
            <a:avLst/>
            <a:gdLst/>
            <a:ahLst/>
            <a:cxnLst/>
            <a:rect r="r" b="b" t="t" l="l"/>
            <a:pathLst>
              <a:path h="1310640" w="2301240">
                <a:moveTo>
                  <a:pt x="0" y="0"/>
                </a:moveTo>
                <a:lnTo>
                  <a:pt x="2301240" y="0"/>
                </a:lnTo>
                <a:lnTo>
                  <a:pt x="2301240" y="1310640"/>
                </a:lnTo>
                <a:lnTo>
                  <a:pt x="0" y="13106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939277" y="1198883"/>
            <a:ext cx="2301240" cy="1310640"/>
          </a:xfrm>
          <a:custGeom>
            <a:avLst/>
            <a:gdLst/>
            <a:ahLst/>
            <a:cxnLst/>
            <a:rect r="r" b="b" t="t" l="l"/>
            <a:pathLst>
              <a:path h="1310640" w="2301240">
                <a:moveTo>
                  <a:pt x="0" y="0"/>
                </a:moveTo>
                <a:lnTo>
                  <a:pt x="2301240" y="0"/>
                </a:lnTo>
                <a:lnTo>
                  <a:pt x="2301240" y="1310640"/>
                </a:lnTo>
                <a:lnTo>
                  <a:pt x="0" y="13106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305800" y="2743200"/>
            <a:ext cx="3429000" cy="3479797"/>
          </a:xfrm>
          <a:custGeom>
            <a:avLst/>
            <a:gdLst/>
            <a:ahLst/>
            <a:cxnLst/>
            <a:rect r="r" b="b" t="t" l="l"/>
            <a:pathLst>
              <a:path h="3479797" w="3429000">
                <a:moveTo>
                  <a:pt x="0" y="0"/>
                </a:moveTo>
                <a:lnTo>
                  <a:pt x="3429000" y="0"/>
                </a:lnTo>
                <a:lnTo>
                  <a:pt x="3429000" y="3479797"/>
                </a:lnTo>
                <a:lnTo>
                  <a:pt x="0" y="347979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94294" y="5211604"/>
            <a:ext cx="99146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100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98456" y="684390"/>
            <a:ext cx="90659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98456" y="1332090"/>
            <a:ext cx="90659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98456" y="1979790"/>
            <a:ext cx="90659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98456" y="2627490"/>
            <a:ext cx="90659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98456" y="3275190"/>
            <a:ext cx="90659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98456" y="3922890"/>
            <a:ext cx="90659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98456" y="4570590"/>
            <a:ext cx="90659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7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616203" y="2964037"/>
            <a:ext cx="5381587" cy="1725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5"/>
              </a:lnSpc>
            </a:pPr>
            <a:r>
              <a:rPr lang="en-US" sz="110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Rejeições têm múltiplas causas (embolamento em caixas, corte transversal/longitudinal, sensores, mesa de garfos, variação de perfil).</a:t>
            </a:r>
          </a:p>
          <a:p>
            <a:pPr algn="l">
              <a:lnSpc>
                <a:spcPts val="1375"/>
              </a:lnSpc>
              <a:spcBef>
                <a:spcPts val="400"/>
              </a:spcBef>
            </a:pPr>
            <a:r>
              <a:rPr lang="en-US" sz="110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Os dados da base PGR+ são registrados após a ocorrência, em horas agregadas por mês, o que dificulta ver o padrão de cada evento.</a:t>
            </a:r>
          </a:p>
          <a:p>
            <a:pPr algn="l">
              <a:lnSpc>
                <a:spcPts val="1375"/>
              </a:lnSpc>
              <a:spcBef>
                <a:spcPts val="400"/>
              </a:spcBef>
            </a:pPr>
            <a:r>
              <a:rPr lang="en-US" sz="110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Picos mensais isolados (L1 em mai: 22,8 h em caixas de fardos; L2 em jul: 10,3 h em corte transversal) exigem investigação do que mudou na operação.</a:t>
            </a:r>
          </a:p>
          <a:p>
            <a:pPr algn="l">
              <a:lnSpc>
                <a:spcPts val="1375"/>
              </a:lnSpc>
              <a:spcBef>
                <a:spcPts val="400"/>
              </a:spcBef>
            </a:pPr>
            <a:r>
              <a:rPr lang="en-US" sz="110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As 16 ações dos planos precisam de evidência objetiva de que bloquearam a causa.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585197" y="3573637"/>
            <a:ext cx="2802988" cy="874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5"/>
              </a:lnSpc>
            </a:pPr>
            <a:r>
              <a:rPr lang="en-US" sz="110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Capturar sinais dos equipamentos em tempo real, relacioná-los às rejeições e acompanhar a eficácia dos planos de ação, sem esperar o fechamento do mês.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35003" y="4576486"/>
            <a:ext cx="473821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Anexos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35003" y="2633386"/>
            <a:ext cx="570662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Histórico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35003" y="1985686"/>
            <a:ext cx="707346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Ocorrência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35003" y="690286"/>
            <a:ext cx="964273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Ficha de perda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35003" y="3928786"/>
            <a:ext cx="985085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Planos de Ação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35003" y="1337986"/>
            <a:ext cx="1143152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Objeto da Análise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35003" y="5218109"/>
            <a:ext cx="1164212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>
                <a:solidFill>
                  <a:srgbClr val="7F7F7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Desdobramento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35003" y="3290164"/>
            <a:ext cx="997296" cy="155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Ferram. Analítica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387603" y="667064"/>
            <a:ext cx="8253355" cy="31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7F7F7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POR QUE ACOMPANHAR EM STREAM? – O GANCHO DA ANÁLISE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654979" y="1494473"/>
            <a:ext cx="1656721" cy="450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04297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164,93 h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279115" y="1967998"/>
            <a:ext cx="39119" cy="17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966383" y="1494473"/>
            <a:ext cx="1656721" cy="450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04297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156,47 h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590518" y="1967998"/>
            <a:ext cx="39119" cy="17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431919" y="1494473"/>
            <a:ext cx="1342282" cy="450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04297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~320 h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971787" y="1967998"/>
            <a:ext cx="39119" cy="17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765708" y="1987048"/>
            <a:ext cx="1430846" cy="304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7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Rejeição</a:t>
            </a:r>
            <a:r>
              <a:rPr lang="en-US" sz="95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acumulada</a:t>
            </a:r>
            <a:r>
              <a:rPr lang="en-US" sz="95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L1 Jan–Ago/25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077101" y="1987048"/>
            <a:ext cx="1430846" cy="304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7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Rejeição</a:t>
            </a:r>
            <a:r>
              <a:rPr lang="en-US" sz="95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acumulada</a:t>
            </a:r>
            <a:r>
              <a:rPr lang="en-US" sz="950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L2 Jan–Ago/25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555925" y="1967998"/>
            <a:ext cx="1089298" cy="17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Tempode parada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584415" y="2118817"/>
            <a:ext cx="1031196" cy="17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estimado noano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387603" y="2664933"/>
            <a:ext cx="2313556" cy="225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>
                <a:solidFill>
                  <a:srgbClr val="04297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O que a análise mostrou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585197" y="3014348"/>
            <a:ext cx="2515248" cy="39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b="true" sz="1200">
                <a:solidFill>
                  <a:srgbClr val="04297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Resposta: Data Analytics em Stream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585197" y="5213271"/>
            <a:ext cx="2664619" cy="511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b="true" sz="1050">
                <a:solidFill>
                  <a:srgbClr val="00C95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Objetivo: acompanhar, antecipar e confirmar a redução do tempo de rejeição.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947" y="5397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947" y="11874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947" y="18351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947" y="24828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7947" y="31305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947" y="37782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7947" y="44259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7947" y="50736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981200" y="0"/>
            <a:ext cx="25403" cy="6858000"/>
            <a:chOff x="0" y="0"/>
            <a:chExt cx="25400" cy="6858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4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25400">
                  <a:moveTo>
                    <a:pt x="0" y="6858000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6858000"/>
                  </a:lnTo>
                  <a:close/>
                </a:path>
              </a:pathLst>
            </a:custGeom>
            <a:solidFill>
              <a:srgbClr val="BFBFB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2319023" y="1181100"/>
            <a:ext cx="9154163" cy="4297680"/>
          </a:xfrm>
          <a:custGeom>
            <a:avLst/>
            <a:gdLst/>
            <a:ahLst/>
            <a:cxnLst/>
            <a:rect r="r" b="b" t="t" l="l"/>
            <a:pathLst>
              <a:path h="4297680" w="9154163">
                <a:moveTo>
                  <a:pt x="0" y="0"/>
                </a:moveTo>
                <a:lnTo>
                  <a:pt x="9154163" y="0"/>
                </a:lnTo>
                <a:lnTo>
                  <a:pt x="9154163" y="4297680"/>
                </a:lnTo>
                <a:lnTo>
                  <a:pt x="0" y="42976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94294" y="5211604"/>
            <a:ext cx="99146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100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8456" y="684390"/>
            <a:ext cx="90659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8456" y="1332090"/>
            <a:ext cx="90659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8456" y="1979790"/>
            <a:ext cx="90659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8456" y="2627490"/>
            <a:ext cx="90659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8456" y="3275190"/>
            <a:ext cx="90659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8456" y="3922890"/>
            <a:ext cx="90659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98456" y="4570590"/>
            <a:ext cx="90659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7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5003" y="4576486"/>
            <a:ext cx="473821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Anexos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5003" y="2633386"/>
            <a:ext cx="570662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Histórico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35003" y="1985686"/>
            <a:ext cx="707346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Ocorrência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35003" y="690286"/>
            <a:ext cx="964273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Ficha de perda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35003" y="3928786"/>
            <a:ext cx="985085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Planos de Ação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35003" y="1337986"/>
            <a:ext cx="1143152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Objeto da Análise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35003" y="5218109"/>
            <a:ext cx="1164212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>
                <a:solidFill>
                  <a:srgbClr val="7F7F7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Desdobramento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489197" y="3643312"/>
            <a:ext cx="1737465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>
                <a:solidFill>
                  <a:srgbClr val="04297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Problemas em sensores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489197" y="2373316"/>
            <a:ext cx="2000031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>
                <a:solidFill>
                  <a:srgbClr val="04297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Falhas de corte transversal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489197" y="1757362"/>
            <a:ext cx="1998383" cy="303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b="true" sz="999">
                <a:solidFill>
                  <a:srgbClr val="04297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Embolamento em caixas de fardos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489197" y="3008309"/>
            <a:ext cx="2014261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>
                <a:solidFill>
                  <a:srgbClr val="04297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Variações de perfil da folha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489197" y="4913309"/>
            <a:ext cx="2050437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>
                <a:solidFill>
                  <a:srgbClr val="04297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Falhas de corte longitudinal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489197" y="4278316"/>
            <a:ext cx="2335511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>
                <a:solidFill>
                  <a:srgbClr val="04297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Mesa de garfos / embolamentos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029200" y="3649389"/>
            <a:ext cx="1428226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L1: 9,36 h | L2: 7,39 h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029200" y="2379393"/>
            <a:ext cx="1510646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L2: 27,41 h | L1: 7,50 h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029200" y="3014386"/>
            <a:ext cx="1510646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L1: 11,38 h | L2: 9,57 h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029200" y="1744389"/>
            <a:ext cx="1593066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L1: 58,49 h | L2: 34,76 h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029200" y="4284393"/>
            <a:ext cx="1593066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L1: 15,58 h | L2: 14,95 h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029200" y="4919386"/>
            <a:ext cx="1593066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L1: 14,53 h | L2: 14,52 h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934200" y="4919386"/>
            <a:ext cx="3017691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Pressão de ar das facas; ocorrências por turno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934200" y="4284393"/>
            <a:ext cx="3328568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Atraso de translação; sincronismo; desnivelamento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934200" y="3033436"/>
            <a:ext cx="3772595" cy="303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Pressão/fluxo de vapor dos secadores; gramatura; ajustes pós-partida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934200" y="1763439"/>
            <a:ext cx="4137374" cy="303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Eventos de rejeição por caixa; atuação de sensores; estado das divisórias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934200" y="2379393"/>
            <a:ext cx="4242626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Pressão hidráulica da contra-faca; temperatura da água/rolo faca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934200" y="3649389"/>
            <a:ext cx="4448508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Frequência e duração de atuações; acionamentos por sujidade/folha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35003" y="3290164"/>
            <a:ext cx="997296" cy="155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Ferram. Analítica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387603" y="667064"/>
            <a:ext cx="5263791" cy="31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7F7F7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DA CAUSA RAIZ AO SINAL MONITORADO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489197" y="1342949"/>
            <a:ext cx="2038798" cy="18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b="true" sz="1050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Problema priorizado (RCA)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029200" y="1342949"/>
            <a:ext cx="1398889" cy="18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b="true" sz="1050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Pareto Jan–Ago/25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934200" y="1342949"/>
            <a:ext cx="2472280" cy="18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b="true" sz="1050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Sinais candidatos para o stream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387603" y="5574802"/>
            <a:ext cx="8612848" cy="17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"/>
              </a:lnSpc>
            </a:pPr>
            <a:r>
              <a:rPr lang="en-US" sz="950">
                <a:solidFill>
                  <a:srgbClr val="C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* Sinais candidatos derivados das árvores de falha (FTA). A disponibilidade de cada tag deve ser validada com Instrumentação/Automação.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947" y="5397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947" y="11874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947" y="18351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947" y="24828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7947" y="31305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947" y="37782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7947" y="44259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7947" y="50736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981200" y="0"/>
            <a:ext cx="25403" cy="6858000"/>
            <a:chOff x="0" y="0"/>
            <a:chExt cx="25400" cy="6858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4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25400">
                  <a:moveTo>
                    <a:pt x="0" y="6858000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6858000"/>
                  </a:lnTo>
                  <a:close/>
                </a:path>
              </a:pathLst>
            </a:custGeom>
            <a:solidFill>
              <a:srgbClr val="BFBFB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2362200" y="4826003"/>
            <a:ext cx="203197" cy="779459"/>
          </a:xfrm>
          <a:custGeom>
            <a:avLst/>
            <a:gdLst/>
            <a:ahLst/>
            <a:cxnLst/>
            <a:rect r="r" b="b" t="t" l="l"/>
            <a:pathLst>
              <a:path h="779459" w="203197">
                <a:moveTo>
                  <a:pt x="0" y="0"/>
                </a:moveTo>
                <a:lnTo>
                  <a:pt x="203197" y="0"/>
                </a:lnTo>
                <a:lnTo>
                  <a:pt x="203197" y="779459"/>
                </a:lnTo>
                <a:lnTo>
                  <a:pt x="0" y="77945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316480" y="1587503"/>
            <a:ext cx="8956043" cy="2492378"/>
          </a:xfrm>
          <a:custGeom>
            <a:avLst/>
            <a:gdLst/>
            <a:ahLst/>
            <a:cxnLst/>
            <a:rect r="r" b="b" t="t" l="l"/>
            <a:pathLst>
              <a:path h="2492378" w="8956043">
                <a:moveTo>
                  <a:pt x="0" y="0"/>
                </a:moveTo>
                <a:lnTo>
                  <a:pt x="8956043" y="0"/>
                </a:lnTo>
                <a:lnTo>
                  <a:pt x="8956043" y="2492378"/>
                </a:lnTo>
                <a:lnTo>
                  <a:pt x="0" y="24923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94294" y="5211604"/>
            <a:ext cx="99146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100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8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8456" y="684390"/>
            <a:ext cx="90659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8456" y="1332090"/>
            <a:ext cx="90659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8456" y="1979790"/>
            <a:ext cx="90659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8456" y="2627490"/>
            <a:ext cx="90659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8456" y="3275190"/>
            <a:ext cx="90659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98456" y="3922890"/>
            <a:ext cx="90659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98456" y="4570590"/>
            <a:ext cx="90659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7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69130" y="1769907"/>
            <a:ext cx="546249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100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Fontes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622521" y="1769907"/>
            <a:ext cx="700088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100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Ingestão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190545" y="1769907"/>
            <a:ext cx="1232068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100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Processamento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978721" y="1769907"/>
            <a:ext cx="1314936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100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Armazenamento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91052" y="1769907"/>
            <a:ext cx="736540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100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Consumo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35003" y="4576486"/>
            <a:ext cx="473821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Anexos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35003" y="2633386"/>
            <a:ext cx="570662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Histórico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35003" y="1985686"/>
            <a:ext cx="707346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Ocorrência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35003" y="690286"/>
            <a:ext cx="964273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Ficha de perda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35003" y="3928786"/>
            <a:ext cx="985085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Planos de Ação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35003" y="1337986"/>
            <a:ext cx="1143152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Objeto da Análise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35003" y="5218109"/>
            <a:ext cx="1164212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>
                <a:solidFill>
                  <a:srgbClr val="7F7F7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Desdobramento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35003" y="3290164"/>
            <a:ext cx="997296" cy="155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Ferram. Analítica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387603" y="667064"/>
            <a:ext cx="6694818" cy="31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7F7F7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ARQUITETURA DO ACOMPANHAMENTO EM STREAM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544813" y="2253748"/>
            <a:ext cx="1207856" cy="57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SAP ;</a:t>
            </a:r>
          </a:p>
          <a:p>
            <a:pPr algn="ctr">
              <a:lnSpc>
                <a:spcPts val="1500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Sensores ; </a:t>
            </a:r>
          </a:p>
          <a:p>
            <a:pPr algn="ctr">
              <a:lnSpc>
                <a:spcPts val="1500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PGR+ (ocorrências)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427544" y="2253748"/>
            <a:ext cx="1097832" cy="38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Fluxo contínuo de eventos e tags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086446" y="2253748"/>
            <a:ext cx="1444428" cy="57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Janelas de tempo Regras e limites Detecção de anomalias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972625" y="2253748"/>
            <a:ext cx="1327375" cy="38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Série temporal Histórico de rejeições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834420" y="2253748"/>
            <a:ext cx="1260072" cy="57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Dashboards</a:t>
            </a:r>
          </a:p>
          <a:p>
            <a:pPr algn="ctr">
              <a:lnSpc>
                <a:spcPts val="1500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Alertas</a:t>
            </a:r>
          </a:p>
          <a:p>
            <a:pPr algn="ctr">
              <a:lnSpc>
                <a:spcPts val="1500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Relatório de eficácia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616203" y="4845006"/>
            <a:ext cx="7227760" cy="77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0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Tempo de rejeição (h/mês) por cortadeira, comparado ao baseline Jan–Ago/25 (L1 164,93 h | L2 156,47 h) Tempo de rejeição por equipamento/sistema, seguindo as categorias do Pareto</a:t>
            </a:r>
          </a:p>
          <a:p>
            <a:pPr algn="l">
              <a:lnSpc>
                <a:spcPts val="1512"/>
              </a:lnSpc>
            </a:pPr>
            <a:r>
              <a:rPr lang="en-US" sz="10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Reincidência: eventos por causa raiz após a conclusão de cada ação</a:t>
            </a:r>
          </a:p>
          <a:p>
            <a:pPr algn="l">
              <a:lnSpc>
                <a:spcPts val="1512"/>
              </a:lnSpc>
            </a:pPr>
            <a:r>
              <a:rPr lang="en-US" sz="10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Alertas precoces: desvios de pressão hidráulica, temperatura, vapor e atuação de sensores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192685" y="4124249"/>
            <a:ext cx="7347709" cy="18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b="true" sz="1050">
                <a:solidFill>
                  <a:srgbClr val="00C95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Retroalimentação: o resultado do stream valida (ou reabre) cada ação do plano de ação da RCA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387603" y="4544539"/>
            <a:ext cx="3158033" cy="225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>
                <a:solidFill>
                  <a:srgbClr val="04297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Indicadores de acompanhamento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947" y="5397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947" y="11874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947" y="18351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947" y="24828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7947" y="31305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947" y="37782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7947" y="44259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7947" y="5073653"/>
            <a:ext cx="469897" cy="573796"/>
          </a:xfrm>
          <a:custGeom>
            <a:avLst/>
            <a:gdLst/>
            <a:ahLst/>
            <a:cxnLst/>
            <a:rect r="r" b="b" t="t" l="l"/>
            <a:pathLst>
              <a:path h="573796" w="469897">
                <a:moveTo>
                  <a:pt x="0" y="0"/>
                </a:moveTo>
                <a:lnTo>
                  <a:pt x="469897" y="0"/>
                </a:lnTo>
                <a:lnTo>
                  <a:pt x="469897" y="573796"/>
                </a:lnTo>
                <a:lnTo>
                  <a:pt x="0" y="5737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981200" y="0"/>
            <a:ext cx="25403" cy="6858000"/>
            <a:chOff x="0" y="0"/>
            <a:chExt cx="25400" cy="6858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4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25400">
                  <a:moveTo>
                    <a:pt x="0" y="6858000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6858000"/>
                  </a:lnTo>
                  <a:close/>
                </a:path>
              </a:pathLst>
            </a:custGeom>
            <a:solidFill>
              <a:srgbClr val="BFBFB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2317747" y="1181100"/>
            <a:ext cx="9410700" cy="4425953"/>
          </a:xfrm>
          <a:custGeom>
            <a:avLst/>
            <a:gdLst/>
            <a:ahLst/>
            <a:cxnLst/>
            <a:rect r="r" b="b" t="t" l="l"/>
            <a:pathLst>
              <a:path h="4425953" w="9410700">
                <a:moveTo>
                  <a:pt x="0" y="0"/>
                </a:moveTo>
                <a:lnTo>
                  <a:pt x="9410700" y="0"/>
                </a:lnTo>
                <a:lnTo>
                  <a:pt x="9410700" y="4425953"/>
                </a:lnTo>
                <a:lnTo>
                  <a:pt x="0" y="44259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94294" y="5211604"/>
            <a:ext cx="99146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100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8456" y="684390"/>
            <a:ext cx="90659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8456" y="1332090"/>
            <a:ext cx="90659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8456" y="1979790"/>
            <a:ext cx="90659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8456" y="2627490"/>
            <a:ext cx="90659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8456" y="3275190"/>
            <a:ext cx="90659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8456" y="3922890"/>
            <a:ext cx="90659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98456" y="4570590"/>
            <a:ext cx="90659" cy="19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7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5003" y="4576486"/>
            <a:ext cx="473821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Anexos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5003" y="2633386"/>
            <a:ext cx="570662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Histórico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35003" y="1985686"/>
            <a:ext cx="707346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Ocorrência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35003" y="690286"/>
            <a:ext cx="964273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Ficha de perda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35003" y="3928786"/>
            <a:ext cx="985085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Planos de Ação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35003" y="1337986"/>
            <a:ext cx="1143152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Objeto da Análise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35003" y="5218109"/>
            <a:ext cx="1164212" cy="1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>
                <a:solidFill>
                  <a:srgbClr val="7F7F7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Desdobramento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35003" y="3290164"/>
            <a:ext cx="997296" cy="155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BFBFB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Ferram. Analítica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387603" y="667064"/>
            <a:ext cx="7969863" cy="31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7F7F7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PLANO DE AÇÃO – PROJETO DE DATA ANALYTICS EM STREAM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489197" y="1342949"/>
            <a:ext cx="965140" cy="18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b="true" sz="1050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O que fazer?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410200" y="1342949"/>
            <a:ext cx="507340" cy="18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b="true" sz="1050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Como?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585197" y="1342949"/>
            <a:ext cx="525342" cy="18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b="true" sz="1050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Quem?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982200" y="1342949"/>
            <a:ext cx="670789" cy="18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b="true" sz="1050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Quando?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998203" y="1342949"/>
            <a:ext cx="497576" cy="18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b="true" sz="1050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Status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489197" y="1752676"/>
            <a:ext cx="2499655" cy="305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b="true" sz="950">
                <a:solidFill>
                  <a:srgbClr val="04297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Mapear e validar as tags e sinais de cada problema priorizado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489197" y="2540079"/>
            <a:ext cx="2558663" cy="305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b="true" sz="950">
                <a:solidFill>
                  <a:srgbClr val="04297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Estruturar a ingestão em stream dos sinais das cortadeiras L1 e L2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489197" y="3327483"/>
            <a:ext cx="2722769" cy="305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b="true" sz="950">
                <a:solidFill>
                  <a:srgbClr val="04297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Cruzar sinais em stream com a base de ocorrências PGR+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489197" y="4114876"/>
            <a:ext cx="2739533" cy="305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b="true" sz="950">
                <a:solidFill>
                  <a:srgbClr val="04297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Construir painel de acompanhamento e alertas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489197" y="4902279"/>
            <a:ext cx="2755278" cy="305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b="true" sz="950">
                <a:solidFill>
                  <a:srgbClr val="04297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Verificar eficácia dos planos de ação da RCA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410200" y="3333255"/>
            <a:ext cx="2584323" cy="305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Associar eventos de rejeição à causa e ao equipamento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410200" y="2526802"/>
            <a:ext cx="2675896" cy="17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Conexão com a automação das cortadeiras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410200" y="4908052"/>
            <a:ext cx="2716759" cy="305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Comparar antes/depois de cada ação com o baseline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410200" y="4120648"/>
            <a:ext cx="2751973" cy="305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KPIs de tempo de rejeição e reincidência por causa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410200" y="1758448"/>
            <a:ext cx="2944082" cy="305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Levantamento com Instrumentação/Automação e Operação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585197" y="1739398"/>
            <a:ext cx="795179" cy="16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Ryan Lobato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585197" y="2526802"/>
            <a:ext cx="795179" cy="16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Ryan Lobato</a:t>
            </a: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585197" y="3314205"/>
            <a:ext cx="795179" cy="16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Ryan Lobato</a:t>
            </a: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585197" y="4101598"/>
            <a:ext cx="795179" cy="16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Ryan Lobato</a:t>
            </a: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585197" y="4889002"/>
            <a:ext cx="987504" cy="17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Moacyr / equipe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982200" y="1739398"/>
            <a:ext cx="507365" cy="16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 definir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982200" y="2526802"/>
            <a:ext cx="517427" cy="17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 definir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982200" y="3314205"/>
            <a:ext cx="517427" cy="17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 definir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982200" y="4101598"/>
            <a:ext cx="517427" cy="17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 definir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982200" y="4889002"/>
            <a:ext cx="517427" cy="17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 definir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998203" y="1739398"/>
            <a:ext cx="497538" cy="17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À iniciar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998203" y="2526802"/>
            <a:ext cx="497538" cy="17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À iniciar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998203" y="3314205"/>
            <a:ext cx="497538" cy="17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À iniciar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998203" y="4101598"/>
            <a:ext cx="497538" cy="17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À iniciar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998203" y="4889002"/>
            <a:ext cx="497538" cy="17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"/>
              </a:lnSpc>
            </a:pPr>
            <a:r>
              <a:rPr lang="en-US" sz="950">
                <a:solidFill>
                  <a:srgbClr val="7F7F7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À iniciar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302527" cy="6858000"/>
            <a:chOff x="0" y="0"/>
            <a:chExt cx="25144315" cy="140166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144302" cy="14016610"/>
            </a:xfrm>
            <a:custGeom>
              <a:avLst/>
              <a:gdLst/>
              <a:ahLst/>
              <a:cxnLst/>
              <a:rect r="r" b="b" t="t" l="l"/>
              <a:pathLst>
                <a:path h="14016610" w="25144302">
                  <a:moveTo>
                    <a:pt x="0" y="0"/>
                  </a:moveTo>
                  <a:lnTo>
                    <a:pt x="25144302" y="0"/>
                  </a:lnTo>
                  <a:lnTo>
                    <a:pt x="25144302" y="14016610"/>
                  </a:lnTo>
                  <a:lnTo>
                    <a:pt x="0" y="14016610"/>
                  </a:lnTo>
                  <a:close/>
                </a:path>
              </a:pathLst>
            </a:custGeom>
            <a:solidFill>
              <a:srgbClr val="0022CC"/>
            </a:solidFill>
            <a:ln w="19050" cap="sq">
              <a:solidFill>
                <a:srgbClr val="042433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-548950">
            <a:off x="-1972686" y="-2683019"/>
            <a:ext cx="15729058" cy="10466682"/>
            <a:chOff x="0" y="0"/>
            <a:chExt cx="45804556" cy="30480000"/>
          </a:xfrm>
        </p:grpSpPr>
        <p:sp>
          <p:nvSpPr>
            <p:cNvPr name="Freeform 5" id="5" descr="Image"/>
            <p:cNvSpPr/>
            <p:nvPr/>
          </p:nvSpPr>
          <p:spPr>
            <a:xfrm flipH="false" flipV="false" rot="0">
              <a:off x="0" y="0"/>
              <a:ext cx="45804556" cy="30480000"/>
            </a:xfrm>
            <a:custGeom>
              <a:avLst/>
              <a:gdLst/>
              <a:ahLst/>
              <a:cxnLst/>
              <a:rect r="r" b="b" t="t" l="l"/>
              <a:pathLst>
                <a:path h="30480000" w="45804556">
                  <a:moveTo>
                    <a:pt x="0" y="0"/>
                  </a:moveTo>
                  <a:lnTo>
                    <a:pt x="45804556" y="0"/>
                  </a:lnTo>
                  <a:lnTo>
                    <a:pt x="45804556" y="30480000"/>
                  </a:lnTo>
                  <a:lnTo>
                    <a:pt x="0" y="3048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123" r="0" b="-2515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206104" y="1602622"/>
            <a:ext cx="3779792" cy="75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8"/>
              </a:lnSpc>
            </a:pPr>
            <a:r>
              <a:rPr lang="en-US" sz="4824">
                <a:solidFill>
                  <a:srgbClr val="00C85A"/>
                </a:solidFill>
                <a:latin typeface="Arimo"/>
                <a:ea typeface="Arimo"/>
                <a:cs typeface="Arimo"/>
                <a:sym typeface="Arimo"/>
              </a:rPr>
              <a:t>Ag</a:t>
            </a:r>
            <a:r>
              <a:rPr lang="en-US" sz="4824">
                <a:solidFill>
                  <a:srgbClr val="00C85A"/>
                </a:solidFill>
                <a:latin typeface="Arimo"/>
                <a:ea typeface="Arimo"/>
                <a:cs typeface="Arimo"/>
                <a:sym typeface="Arimo"/>
              </a:rPr>
              <a:t>radecemos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683516" y="4547886"/>
            <a:ext cx="1691978" cy="325050"/>
            <a:chOff x="0" y="0"/>
            <a:chExt cx="3367037" cy="6468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67039" cy="646848"/>
            </a:xfrm>
            <a:custGeom>
              <a:avLst/>
              <a:gdLst/>
              <a:ahLst/>
              <a:cxnLst/>
              <a:rect r="r" b="b" t="t" l="l"/>
              <a:pathLst>
                <a:path h="646848" w="3367039">
                  <a:moveTo>
                    <a:pt x="0" y="0"/>
                  </a:moveTo>
                  <a:lnTo>
                    <a:pt x="3367039" y="0"/>
                  </a:lnTo>
                  <a:lnTo>
                    <a:pt x="3367039" y="646848"/>
                  </a:lnTo>
                  <a:lnTo>
                    <a:pt x="0" y="6468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425" r="0" b="-514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3367037" cy="6563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6"/>
                </a:lnSpc>
              </a:pPr>
              <a:r>
                <a:rPr lang="en-US" sz="1105">
                  <a:solidFill>
                    <a:srgbClr val="EBEBEB"/>
                  </a:solidFill>
                  <a:latin typeface="Arimo"/>
                  <a:ea typeface="Arimo"/>
                  <a:cs typeface="Arimo"/>
                  <a:sym typeface="Arimo"/>
                </a:rPr>
                <a:t>@suzanoempresa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393631" y="4588520"/>
            <a:ext cx="243693" cy="243789"/>
            <a:chOff x="0" y="0"/>
            <a:chExt cx="484950" cy="485140"/>
          </a:xfrm>
        </p:grpSpPr>
        <p:sp>
          <p:nvSpPr>
            <p:cNvPr name="Freeform 11" id="11" descr="Image"/>
            <p:cNvSpPr/>
            <p:nvPr/>
          </p:nvSpPr>
          <p:spPr>
            <a:xfrm flipH="false" flipV="false" rot="0">
              <a:off x="0" y="0"/>
              <a:ext cx="485013" cy="485140"/>
            </a:xfrm>
            <a:custGeom>
              <a:avLst/>
              <a:gdLst/>
              <a:ahLst/>
              <a:cxnLst/>
              <a:rect r="r" b="b" t="t" l="l"/>
              <a:pathLst>
                <a:path h="485140" w="485013">
                  <a:moveTo>
                    <a:pt x="0" y="0"/>
                  </a:moveTo>
                  <a:lnTo>
                    <a:pt x="485013" y="0"/>
                  </a:lnTo>
                  <a:lnTo>
                    <a:pt x="485013" y="485140"/>
                  </a:lnTo>
                  <a:lnTo>
                    <a:pt x="0" y="485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6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512718" y="4547886"/>
            <a:ext cx="1691978" cy="325050"/>
            <a:chOff x="0" y="0"/>
            <a:chExt cx="3367037" cy="6468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67040" cy="646848"/>
            </a:xfrm>
            <a:custGeom>
              <a:avLst/>
              <a:gdLst/>
              <a:ahLst/>
              <a:cxnLst/>
              <a:rect r="r" b="b" t="t" l="l"/>
              <a:pathLst>
                <a:path h="646848" w="3367040">
                  <a:moveTo>
                    <a:pt x="0" y="0"/>
                  </a:moveTo>
                  <a:lnTo>
                    <a:pt x="3367040" y="0"/>
                  </a:lnTo>
                  <a:lnTo>
                    <a:pt x="3367040" y="646848"/>
                  </a:lnTo>
                  <a:lnTo>
                    <a:pt x="0" y="6468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425" r="0" b="-514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3367037" cy="6563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6"/>
                </a:lnSpc>
              </a:pPr>
              <a:r>
                <a:rPr lang="en-US" sz="1105">
                  <a:solidFill>
                    <a:srgbClr val="EBEBEB"/>
                  </a:solidFill>
                  <a:latin typeface="Arimo"/>
                  <a:ea typeface="Arimo"/>
                  <a:cs typeface="Arimo"/>
                  <a:sym typeface="Arimo"/>
                </a:rPr>
                <a:t>@suzano_oficial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196578" y="4588520"/>
            <a:ext cx="243693" cy="243789"/>
            <a:chOff x="0" y="0"/>
            <a:chExt cx="484950" cy="485140"/>
          </a:xfrm>
        </p:grpSpPr>
        <p:sp>
          <p:nvSpPr>
            <p:cNvPr name="Freeform 16" id="16" descr="Image"/>
            <p:cNvSpPr/>
            <p:nvPr/>
          </p:nvSpPr>
          <p:spPr>
            <a:xfrm flipH="false" flipV="false" rot="0">
              <a:off x="0" y="0"/>
              <a:ext cx="485013" cy="485140"/>
            </a:xfrm>
            <a:custGeom>
              <a:avLst/>
              <a:gdLst/>
              <a:ahLst/>
              <a:cxnLst/>
              <a:rect r="r" b="b" t="t" l="l"/>
              <a:pathLst>
                <a:path h="485140" w="485013">
                  <a:moveTo>
                    <a:pt x="0" y="0"/>
                  </a:moveTo>
                  <a:lnTo>
                    <a:pt x="485013" y="0"/>
                  </a:lnTo>
                  <a:lnTo>
                    <a:pt x="485013" y="485140"/>
                  </a:lnTo>
                  <a:lnTo>
                    <a:pt x="0" y="485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6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266588" y="4547886"/>
            <a:ext cx="893557" cy="325050"/>
            <a:chOff x="0" y="0"/>
            <a:chExt cx="1778178" cy="6468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78184" cy="646848"/>
            </a:xfrm>
            <a:custGeom>
              <a:avLst/>
              <a:gdLst/>
              <a:ahLst/>
              <a:cxnLst/>
              <a:rect r="r" b="b" t="t" l="l"/>
              <a:pathLst>
                <a:path h="646848" w="1778184">
                  <a:moveTo>
                    <a:pt x="0" y="0"/>
                  </a:moveTo>
                  <a:lnTo>
                    <a:pt x="1778184" y="0"/>
                  </a:lnTo>
                  <a:lnTo>
                    <a:pt x="1778184" y="646848"/>
                  </a:lnTo>
                  <a:lnTo>
                    <a:pt x="0" y="6468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4" r="0" b="-356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778178" cy="6563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6"/>
                </a:lnSpc>
              </a:pPr>
              <a:r>
                <a:rPr lang="en-US" sz="1105">
                  <a:solidFill>
                    <a:srgbClr val="EBEBEB"/>
                  </a:solidFill>
                  <a:latin typeface="Arimo"/>
                  <a:ea typeface="Arimo"/>
                  <a:cs typeface="Arimo"/>
                  <a:sym typeface="Arimo"/>
                </a:rPr>
                <a:t>@suzano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967098" y="4635497"/>
            <a:ext cx="243693" cy="173320"/>
            <a:chOff x="0" y="0"/>
            <a:chExt cx="484950" cy="344907"/>
          </a:xfrm>
        </p:grpSpPr>
        <p:sp>
          <p:nvSpPr>
            <p:cNvPr name="Freeform 21" id="21" descr="Image"/>
            <p:cNvSpPr/>
            <p:nvPr/>
          </p:nvSpPr>
          <p:spPr>
            <a:xfrm flipH="false" flipV="false" rot="0">
              <a:off x="0" y="0"/>
              <a:ext cx="485013" cy="344932"/>
            </a:xfrm>
            <a:custGeom>
              <a:avLst/>
              <a:gdLst/>
              <a:ahLst/>
              <a:cxnLst/>
              <a:rect r="r" b="b" t="t" l="l"/>
              <a:pathLst>
                <a:path h="344932" w="485013">
                  <a:moveTo>
                    <a:pt x="0" y="0"/>
                  </a:moveTo>
                  <a:lnTo>
                    <a:pt x="485013" y="0"/>
                  </a:lnTo>
                  <a:lnTo>
                    <a:pt x="485013" y="344932"/>
                  </a:lnTo>
                  <a:lnTo>
                    <a:pt x="0" y="344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392" b="7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531866" y="4547886"/>
            <a:ext cx="939238" cy="325050"/>
            <a:chOff x="0" y="0"/>
            <a:chExt cx="1869084" cy="64684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69080" cy="646848"/>
            </a:xfrm>
            <a:custGeom>
              <a:avLst/>
              <a:gdLst/>
              <a:ahLst/>
              <a:cxnLst/>
              <a:rect r="r" b="b" t="t" l="l"/>
              <a:pathLst>
                <a:path h="646848" w="1869080">
                  <a:moveTo>
                    <a:pt x="0" y="0"/>
                  </a:moveTo>
                  <a:lnTo>
                    <a:pt x="1869080" y="0"/>
                  </a:lnTo>
                  <a:lnTo>
                    <a:pt x="1869080" y="646848"/>
                  </a:lnTo>
                  <a:lnTo>
                    <a:pt x="0" y="6468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02" r="0" b="-630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1869084" cy="6563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6"/>
                </a:lnSpc>
              </a:pPr>
              <a:r>
                <a:rPr lang="en-US" sz="1105">
                  <a:solidFill>
                    <a:srgbClr val="EBEBEB"/>
                  </a:solidFill>
                  <a:latin typeface="Arimo"/>
                  <a:ea typeface="Arimo"/>
                  <a:cs typeface="Arimo"/>
                  <a:sym typeface="Arimo"/>
                </a:rPr>
                <a:t>@suzano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215955" y="4588520"/>
            <a:ext cx="243693" cy="243789"/>
            <a:chOff x="0" y="0"/>
            <a:chExt cx="484950" cy="485140"/>
          </a:xfrm>
        </p:grpSpPr>
        <p:sp>
          <p:nvSpPr>
            <p:cNvPr name="Freeform 26" id="26" descr="Image"/>
            <p:cNvSpPr/>
            <p:nvPr/>
          </p:nvSpPr>
          <p:spPr>
            <a:xfrm flipH="false" flipV="false" rot="0">
              <a:off x="0" y="0"/>
              <a:ext cx="485013" cy="485140"/>
            </a:xfrm>
            <a:custGeom>
              <a:avLst/>
              <a:gdLst/>
              <a:ahLst/>
              <a:cxnLst/>
              <a:rect r="r" b="b" t="t" l="l"/>
              <a:pathLst>
                <a:path h="485140" w="485013">
                  <a:moveTo>
                    <a:pt x="0" y="0"/>
                  </a:moveTo>
                  <a:lnTo>
                    <a:pt x="485013" y="0"/>
                  </a:lnTo>
                  <a:lnTo>
                    <a:pt x="485013" y="485140"/>
                  </a:lnTo>
                  <a:lnTo>
                    <a:pt x="0" y="485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26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343511" y="4580734"/>
            <a:ext cx="1283242" cy="267957"/>
            <a:chOff x="0" y="0"/>
            <a:chExt cx="2553652" cy="53323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53654" cy="533232"/>
            </a:xfrm>
            <a:custGeom>
              <a:avLst/>
              <a:gdLst/>
              <a:ahLst/>
              <a:cxnLst/>
              <a:rect r="r" b="b" t="t" l="l"/>
              <a:pathLst>
                <a:path h="533232" w="2553654">
                  <a:moveTo>
                    <a:pt x="0" y="0"/>
                  </a:moveTo>
                  <a:lnTo>
                    <a:pt x="2553654" y="0"/>
                  </a:lnTo>
                  <a:lnTo>
                    <a:pt x="2553654" y="533232"/>
                  </a:lnTo>
                  <a:lnTo>
                    <a:pt x="0" y="533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313" r="0" b="-4331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2553652" cy="542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6"/>
                </a:lnSpc>
              </a:pPr>
              <a:r>
                <a:rPr lang="en-US" sz="1055">
                  <a:solidFill>
                    <a:srgbClr val="EBEBEB"/>
                  </a:solidFill>
                  <a:latin typeface="Arimo"/>
                  <a:ea typeface="Arimo"/>
                  <a:cs typeface="Arimo"/>
                  <a:sym typeface="Arimo"/>
                </a:rPr>
                <a:t>Acesse nosso site :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686201" y="4184500"/>
            <a:ext cx="1053928" cy="1051828"/>
            <a:chOff x="0" y="0"/>
            <a:chExt cx="2097316" cy="2093138"/>
          </a:xfrm>
        </p:grpSpPr>
        <p:sp>
          <p:nvSpPr>
            <p:cNvPr name="Freeform 31" id="31" descr="Imagem 20"/>
            <p:cNvSpPr/>
            <p:nvPr/>
          </p:nvSpPr>
          <p:spPr>
            <a:xfrm flipH="false" flipV="false" rot="0">
              <a:off x="0" y="0"/>
              <a:ext cx="2097278" cy="2093087"/>
            </a:xfrm>
            <a:custGeom>
              <a:avLst/>
              <a:gdLst/>
              <a:ahLst/>
              <a:cxnLst/>
              <a:rect r="r" b="b" t="t" l="l"/>
              <a:pathLst>
                <a:path h="2093087" w="2097278">
                  <a:moveTo>
                    <a:pt x="0" y="0"/>
                  </a:moveTo>
                  <a:lnTo>
                    <a:pt x="2097278" y="0"/>
                  </a:lnTo>
                  <a:lnTo>
                    <a:pt x="2097278" y="2093087"/>
                  </a:lnTo>
                  <a:lnTo>
                    <a:pt x="0" y="2093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932" t="-5618" r="-5188" b="-4722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305096" y="2526493"/>
            <a:ext cx="1734648" cy="1360355"/>
            <a:chOff x="0" y="0"/>
            <a:chExt cx="3451949" cy="2707107"/>
          </a:xfrm>
        </p:grpSpPr>
        <p:sp>
          <p:nvSpPr>
            <p:cNvPr name="Freeform 33" id="33" descr="Logotipo, nome da empresa  Descrição gerada automaticamente"/>
            <p:cNvSpPr/>
            <p:nvPr/>
          </p:nvSpPr>
          <p:spPr>
            <a:xfrm flipH="false" flipV="false" rot="0">
              <a:off x="0" y="0"/>
              <a:ext cx="3451987" cy="2707132"/>
            </a:xfrm>
            <a:custGeom>
              <a:avLst/>
              <a:gdLst/>
              <a:ahLst/>
              <a:cxnLst/>
              <a:rect r="r" b="b" t="t" l="l"/>
              <a:pathLst>
                <a:path h="2707132" w="3451987">
                  <a:moveTo>
                    <a:pt x="0" y="0"/>
                  </a:moveTo>
                  <a:lnTo>
                    <a:pt x="3451987" y="0"/>
                  </a:lnTo>
                  <a:lnTo>
                    <a:pt x="3451987" y="2707132"/>
                  </a:lnTo>
                  <a:lnTo>
                    <a:pt x="0" y="27071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83" r="1" b="-83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DAHXQPRePNc</dc:identifier>
  <dcterms:modified xsi:type="dcterms:W3CDTF">2011-08-01T06:04:30Z</dcterms:modified>
  <cp:revision>1</cp:revision>
  <dc:title>RCA_CORTADEIRAS_L1_E_L2_com_Analytics_Stream.pdf</dc:title>
</cp:coreProperties>
</file>