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421aa0b-a7e7-4de5-dc86-296d1c2e704c}">
          <p14:sldIdLst>
            <p14:sldId id="256"/>
          </p14:sldIdLst>
        </p14:section>
        <p14:section name="Análise de Falhas" id="{08aa97cb-e9ba-0de3-e6cd-8b7bbf76f6b9}">
          <p14:sldIdLst>
            <p14:sldId id="257"/>
            <p14:sldId id="258"/>
            <p14:sldId id="259"/>
          </p14:sldIdLst>
        </p14:section>
        <p14:section name="BI e Analytics" id="{d93dd38b-5bd1-c503-752d-0d3c102acb93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4297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4297A"/>
                </a:solidFill>
                <a:latin typeface="Arial"/>
              </a:rPr>
              <a:t>Tempo de rejeição mensal [h]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Cortadeira L1</c:v>
                </c:pt>
              </c:strCache>
            </c:strRef>
          </c:tx>
          <c:spPr>
            <a:solidFill>
              <a:srgbClr val="0070DB"/>
            </a:solidFill>
            <a:ln w="25400" cap="flat">
              <a:solidFill>
                <a:srgbClr val="0070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070DB"/>
              </a:solidFill>
              <a:ln w="9525" cap="flat">
                <a:solidFill>
                  <a:srgbClr val="0070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38.92</c:v>
                </c:pt>
                <c:pt idx="1">
                  <c:v>15.97</c:v>
                </c:pt>
                <c:pt idx="2">
                  <c:v>20.82</c:v>
                </c:pt>
                <c:pt idx="3">
                  <c:v>18.32</c:v>
                </c:pt>
                <c:pt idx="4">
                  <c:v>30.05</c:v>
                </c:pt>
                <c:pt idx="5">
                  <c:v>15.43</c:v>
                </c:pt>
                <c:pt idx="6">
                  <c:v>9.88</c:v>
                </c:pt>
                <c:pt idx="7">
                  <c:v>15.55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Cortadeira L2</c:v>
                </c:pt>
              </c:strCache>
            </c:strRef>
          </c:tx>
          <c:spPr>
            <a:solidFill>
              <a:srgbClr val="C00000"/>
            </a:solidFill>
            <a:ln w="2540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12.69</c:v>
                </c:pt>
                <c:pt idx="1">
                  <c:v>6.25</c:v>
                </c:pt>
                <c:pt idx="2">
                  <c:v>11.07</c:v>
                </c:pt>
                <c:pt idx="3">
                  <c:v>19.73</c:v>
                </c:pt>
                <c:pt idx="4">
                  <c:v>14.59</c:v>
                </c:pt>
                <c:pt idx="5">
                  <c:v>40.9</c:v>
                </c:pt>
                <c:pt idx="6">
                  <c:v>26.35</c:v>
                </c:pt>
                <c:pt idx="7">
                  <c:v>24.88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4297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4297A"/>
                </a:solidFill>
                <a:latin typeface="Arial"/>
              </a:rPr>
              <a:t>Cortadeira L1 – top 8 [h]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Cortadeira L1 – top 8 [h]</c:v>
                </c:pt>
              </c:strCache>
            </c:strRef>
          </c:tx>
          <c:spPr>
            <a:solidFill>
              <a:srgbClr val="0070D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Caixa de fardos</c:v>
                  </c:pt>
                  <c:pt idx="1">
                    <c:v>Mesa de garfos</c:v>
                  </c:pt>
                  <c:pt idx="2">
                    <c:v>Facas longitud.</c:v>
                  </c:pt>
                  <c:pt idx="3">
                    <c:v>Folha</c:v>
                  </c:pt>
                  <c:pt idx="4">
                    <c:v>Sensores</c:v>
                  </c:pt>
                  <c:pt idx="5">
                    <c:v>Roldanas</c:v>
                  </c:pt>
                  <c:pt idx="6">
                    <c:v>Facas transv.</c:v>
                  </c:pt>
                  <c:pt idx="7">
                    <c:v>Layboy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58.49</c:v>
                </c:pt>
                <c:pt idx="1">
                  <c:v>15.58</c:v>
                </c:pt>
                <c:pt idx="2">
                  <c:v>14.53</c:v>
                </c:pt>
                <c:pt idx="3">
                  <c:v>11.38</c:v>
                </c:pt>
                <c:pt idx="4">
                  <c:v>9.36</c:v>
                </c:pt>
                <c:pt idx="5">
                  <c:v>7.68</c:v>
                </c:pt>
                <c:pt idx="6">
                  <c:v>7.5</c:v>
                </c:pt>
                <c:pt idx="7">
                  <c:v>6.71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4297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4297A"/>
                </a:solidFill>
                <a:latin typeface="Arial"/>
              </a:rPr>
              <a:t>Cortadeira L2 – top 8 [h]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Cortadeira L2 – top 8 [h]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Caixa de fardos</c:v>
                  </c:pt>
                  <c:pt idx="1">
                    <c:v>Facas transv.</c:v>
                  </c:pt>
                  <c:pt idx="2">
                    <c:v>Cortadeira</c:v>
                  </c:pt>
                  <c:pt idx="3">
                    <c:v>Mesa de garfos</c:v>
                  </c:pt>
                  <c:pt idx="4">
                    <c:v>Facas longitud.</c:v>
                  </c:pt>
                  <c:pt idx="5">
                    <c:v>Folha</c:v>
                  </c:pt>
                  <c:pt idx="6">
                    <c:v>Sensores</c:v>
                  </c:pt>
                  <c:pt idx="7">
                    <c:v>Barreira rejeição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34.76</c:v>
                </c:pt>
                <c:pt idx="1">
                  <c:v>27.41</c:v>
                </c:pt>
                <c:pt idx="2">
                  <c:v>21.5</c:v>
                </c:pt>
                <c:pt idx="3">
                  <c:v>14.95</c:v>
                </c:pt>
                <c:pt idx="4">
                  <c:v>14.52</c:v>
                </c:pt>
                <c:pt idx="5">
                  <c:v>9.57</c:v>
                </c:pt>
                <c:pt idx="6">
                  <c:v>7.39</c:v>
                </c:pt>
                <c:pt idx="7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0070DB"/>
            </a:solidFill>
            <a:ln w="25400" cap="flat">
              <a:solidFill>
                <a:srgbClr val="0070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070DB"/>
              </a:solidFill>
              <a:ln w="9525" cap="flat">
                <a:solidFill>
                  <a:srgbClr val="0070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38.92</c:v>
                </c:pt>
                <c:pt idx="1">
                  <c:v>15.97</c:v>
                </c:pt>
                <c:pt idx="2">
                  <c:v>20.82</c:v>
                </c:pt>
                <c:pt idx="3">
                  <c:v>18.32</c:v>
                </c:pt>
                <c:pt idx="4">
                  <c:v>30.05</c:v>
                </c:pt>
                <c:pt idx="5">
                  <c:v>15.43</c:v>
                </c:pt>
                <c:pt idx="6">
                  <c:v>9.88</c:v>
                </c:pt>
                <c:pt idx="7">
                  <c:v>15.55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spPr>
            <a:solidFill>
              <a:srgbClr val="C00000"/>
            </a:solidFill>
            <a:ln w="2540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12.69</c:v>
                </c:pt>
                <c:pt idx="1">
                  <c:v>6.25</c:v>
                </c:pt>
                <c:pt idx="2">
                  <c:v>11.07</c:v>
                </c:pt>
                <c:pt idx="3">
                  <c:v>19.73</c:v>
                </c:pt>
                <c:pt idx="4">
                  <c:v>14.59</c:v>
                </c:pt>
                <c:pt idx="5">
                  <c:v>40.9</c:v>
                </c:pt>
                <c:pt idx="6">
                  <c:v>26.35</c:v>
                </c:pt>
                <c:pt idx="7">
                  <c:v>24.88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0070D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Caixa de fardos</c:v>
                  </c:pt>
                  <c:pt idx="1">
                    <c:v>Facas transv.</c:v>
                  </c:pt>
                  <c:pt idx="2">
                    <c:v>Mesa de garfos</c:v>
                  </c:pt>
                  <c:pt idx="3">
                    <c:v>Facas longit.</c:v>
                  </c:pt>
                  <c:pt idx="4">
                    <c:v>Folha</c:v>
                  </c:pt>
                  <c:pt idx="5">
                    <c:v>Sensores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58.49</c:v>
                </c:pt>
                <c:pt idx="1">
                  <c:v>7.5</c:v>
                </c:pt>
                <c:pt idx="2">
                  <c:v>15.58</c:v>
                </c:pt>
                <c:pt idx="3">
                  <c:v>14.53</c:v>
                </c:pt>
                <c:pt idx="4">
                  <c:v>11.38</c:v>
                </c:pt>
                <c:pt idx="5">
                  <c:v>9.36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Caixa de fardos</c:v>
                  </c:pt>
                  <c:pt idx="1">
                    <c:v>Facas transv.</c:v>
                  </c:pt>
                  <c:pt idx="2">
                    <c:v>Mesa de garfos</c:v>
                  </c:pt>
                  <c:pt idx="3">
                    <c:v>Facas longit.</c:v>
                  </c:pt>
                  <c:pt idx="4">
                    <c:v>Folha</c:v>
                  </c:pt>
                  <c:pt idx="5">
                    <c:v>Sensores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34.76</c:v>
                </c:pt>
                <c:pt idx="1">
                  <c:v>27.41</c:v>
                </c:pt>
                <c:pt idx="2">
                  <c:v>14.95</c:v>
                </c:pt>
                <c:pt idx="3">
                  <c:v>14.52</c:v>
                </c:pt>
                <c:pt idx="4">
                  <c:v>9.57</c:v>
                </c:pt>
                <c:pt idx="5">
                  <c:v>7.39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0DB"/>
              </a:solidFill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L1</c:v>
                </c:pt>
                <c:pt idx="1">
                  <c:v>L2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164.93</c:v>
                </c:pt>
                <c:pt idx="1">
                  <c:v>156.47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Combina a RCA original com o desdobramento em BI e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ilustrativo que simula o painel no Power BI, com fundo de papel celulose.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SH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0"/>
            <a:ext cx="320040" cy="514350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Ryan Lobato | RCA Cortadeiras L1 e L2 | Material ilustrativo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1" Type="http://schemas.openxmlformats.org/officeDocument/2006/relationships/image" Target="../media/image-9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Projeto Cerrado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3"/>
                </a:solidFill>
              </a:rPr>
              <a:t>ANÁLISE DE FALHAS – FAIXA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Cortadeiras L1 e L2: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da análise de rejeições ao BI de acompanhamento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BI e métricas: Ryan Lobato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Inteligência de Negócios | Confiabilidade e Processos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Análise de falhas: Moacyr Angeli Junior | Jan–Ago/2025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Projeto concluído | Material ilustrativo para 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 problema: ~320 h de rejeição nas cortadeiras em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1732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164,93 h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Rejeição acumulada L1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097280"/>
            <a:ext cx="141732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11704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156,47 h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Rejeição acumulada L2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097280"/>
            <a:ext cx="141732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1704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~320 h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Tempo de parada no ano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Escopo: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rejeições nas cortadeiras e enfardamento (base PGR+, Jan–Ago/25), com expurgo de ocorrências externas (exceto variações de perfil da folha) e de corte de capas.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Equipe multidisciplinar: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Mecânica, Elétrica, Instrumentação e Operação.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Falha recorrente: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não. Análise realizada em 17/08/25.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120640" y="1005840"/>
          <a:ext cx="3749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Pareto: caixas de fardos lideram em L1 e L2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Base PGR+, estratificação por equipamento ou sistema de origem, Jan–Ago/25.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Causas raiz (FTA) e plano de ação: 16 ações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Embolamentos em caixas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Ajuste das divisórias, perfis-guia (bicos de pato) desgastados, roldanas, polias e fitas longas.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Cortes e perfil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813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Hidráulica da contra-faca, desgaste de facas, temperatura do rolo faca e variação de pressão de vapor.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Sensores e garfos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813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Sujidade e atuação indevida; desnivelamento, sincronismo e travamento de rolamento na mesa de garfos.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6908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26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Plano de ação (posição em 21/08/25)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6440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ações específicas da L2 e 11 comuns a L1 e L2. Todas com status "À iniciar", responsáveis definidos e prazos entre 27/08 e 30/09/25 ou "em oportunidade".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834640"/>
            <a:ext cx="406908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834640"/>
            <a:ext cx="64008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Lacuna que o BI resolve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26440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Faltava um acompanhamento periódico para provar que cada ação bloqueou a causa. Esse foi o gancho para o projeto de BI.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Arquitetura do BI: três fontes, camadas e Power BI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PGR+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RPA de extração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ocorrências de rejeição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 System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Script de extração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sinais de processo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8288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Script de extração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notas e ordens de manutenção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2240280"/>
            <a:ext cx="3657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097280"/>
            <a:ext cx="182880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097280"/>
            <a:ext cx="64008" cy="2011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Bronze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1527048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Dados brutos, por data de extração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182880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097280"/>
            <a:ext cx="64008" cy="2011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Silver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527048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Limpeza, tipos, regra de expurgo, de-para de TAG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182880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097280"/>
            <a:ext cx="64008" cy="2011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Gold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527048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Fatos e dimensões, KPIs, Pareto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657600"/>
            <a:ext cx="36576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3291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Ferramentas: Python, Polars/Pandas, Parquet; painéis em Power BI.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3657600"/>
            <a:ext cx="19202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3657600"/>
            <a:ext cx="64008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Atualização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0873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Carga a cada 8 horas (em lote), com logs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3657600"/>
            <a:ext cx="32918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3657600"/>
            <a:ext cx="64008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7784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Consumo (Power BI)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Painéis, métricas e relatório de eficácia, atualizados a cada 8 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Modelo de dados integrado (camada Gold)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fato_parada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Rejeições, paradas e emergências: origem, duração, equipamento, causa, classificação.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64008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fato_sinal_processo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813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Séries do PI por TAG, agregadas por janela (média, mínimo, máximo, desvio).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64008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fato_manutencao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813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Notas e ordens do SAP: tipo, datas, horas, peças e custo.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6908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64008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788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Dimensões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27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equipamento (TAG), causa raiz (ramos da FTA), plano de ação, tempo e turno.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697480"/>
            <a:ext cx="406908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697480"/>
            <a:ext cx="64008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788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fato_evento_janela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1272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Resumo dos sinais antes, durante e depois de cada parada.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49040"/>
            <a:ext cx="64008" cy="777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8404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Reconciliação com a RCA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1788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Silver, com a regra de expurgo, fecha Jan–Ago/25 em 164,93 h (L1) e 156,47 h (L2). A chave de integração é a TAG, ligada à janela de tempo.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Da causa raiz ao indicador acompanhado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Problema priorizado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9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Pareto Jan–Ago/25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9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Indicadores e sinais (PI / PGR+ / SAP)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97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Embolamento em caixas de fardos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L1 58,49 h | L2 34,76 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Eventos por caixa, sensores, divisórias; ordens de reparo de perfis-guia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Falhas de corte transversal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L2 27,41 h | L1 7,50 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Pressão hidráulica da contra-faca, temperatura da água do rolo faca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Variações de perfil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L1 11,38 h | L2 9,57 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Pressão e fluxo de vapor dos secadores, gramatura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Problemas em sensores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L1 9,36 h | L2 7,39 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Frequência e duração de atuações; rotina de limpeza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Mesa de garfos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L1 15,58 h | L2 14,95 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Tempo de translação, sincronismo; ordens de lubrificação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Corte longitudinal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L1 14,53 h | L2 14,52 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Pressão de ar das facas; trocas e ajustes no SAP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Mapeamento derivado das árvores de falha (FTA) da análise original.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 que o BI responde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69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1097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Acompanhamento (BI)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Tempo de rejeição por cortadeira vs. baseline, Pareto dinâmico e status do plano de ação, no Power BI.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4069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051560"/>
            <a:ext cx="64008" cy="1097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Eficácia das ações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481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Horas por causa antes e depois da conclusão de cada ação, e reincidência.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69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77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Fatores de parada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715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Comportamento dos sinais antes de cada falha; padrões por turno e condição de operação.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286000"/>
            <a:ext cx="4069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28600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7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Corretiva vs. preventiva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715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Relação entre intervenções do SAP, custo e redução de paradas e emergências.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20440"/>
            <a:ext cx="64008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118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Qualidade do rótulo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502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Compare a causa apontada no PGR+ com o PI e as notas do SAP; divergências são achado de análise, não erro de dado.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Logo Suza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"/>
            <a:ext cx="1325880" cy="3118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09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Acompanhamento de Rejeições – Cortadeiras L1 e L2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42062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Base PGR+ | Jan–Ago/2025 | Atualização a cada 8 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12280" y="246888"/>
            <a:ext cx="713232" cy="256032"/>
          </a:xfrm>
          <a:prstGeom prst="roundRect">
            <a:avLst>
              <a:gd name="adj" fmla="val 21429"/>
            </a:avLst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2468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2025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589520" y="246888"/>
            <a:ext cx="713232" cy="256032"/>
          </a:xfrm>
          <a:prstGeom prst="roundRect">
            <a:avLst>
              <a:gd name="adj" fmla="val 21429"/>
            </a:avLst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2468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L1 + L2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366760" y="246888"/>
            <a:ext cx="713232" cy="256032"/>
          </a:xfrm>
          <a:prstGeom prst="roundRect">
            <a:avLst>
              <a:gd name="adj" fmla="val 21429"/>
            </a:avLst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468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Jan–Ago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914400"/>
            <a:ext cx="2057400" cy="77724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914400"/>
            <a:ext cx="64008" cy="7772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164,93 h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Rejeição acumulada L1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68880" y="914400"/>
            <a:ext cx="2057400" cy="77724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68880" y="914400"/>
            <a:ext cx="64008" cy="777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51760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156,47 h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Rejeição acumulada L2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914400"/>
            <a:ext cx="2057400" cy="77724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914400"/>
            <a:ext cx="64008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~320 h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Parada estimada no ano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58000" y="914400"/>
            <a:ext cx="2057400" cy="77724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0" y="914400"/>
            <a:ext cx="64008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 h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Ciclo de atualização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1828800"/>
            <a:ext cx="3017520" cy="288036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11480" y="1892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Tempo de rejeição mensal [h]</a:t>
            </a:r>
            <a:endParaRPr lang="en-US" sz="10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320040" y="2148840"/>
          <a:ext cx="2926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3429000" y="1828800"/>
            <a:ext cx="3291840" cy="288036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3566160" y="1892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Pareto por equipamento / sistema [h]</a:t>
            </a:r>
            <a:endParaRPr lang="en-US" sz="105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3474720" y="2148840"/>
          <a:ext cx="3200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ape 30"/>
          <p:cNvSpPr/>
          <p:nvPr/>
        </p:nvSpPr>
        <p:spPr>
          <a:xfrm>
            <a:off x="6858000" y="1828800"/>
            <a:ext cx="2011680" cy="2880360"/>
          </a:xfrm>
          <a:prstGeom prst="rect">
            <a:avLst/>
          </a:prstGeom>
          <a:solidFill>
            <a:schemeClr val="bg1">
              <a:alpha val="92000"/>
            </a:schemeClr>
          </a:solidFill>
          <a:ln w="9525">
            <a:solidFill>
              <a:srgbClr val="D9D3C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6949440" y="1892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Participação no acumulado</a:t>
            </a:r>
            <a:endParaRPr lang="en-US" sz="1050" dirty="0"/>
          </a:p>
        </p:txBody>
      </p:sp>
      <p:graphicFrame>
        <p:nvGraphicFramePr>
          <p:cNvPr id="37" name="Chart 2" descr=""/>
          <p:cNvGraphicFramePr/>
          <p:nvPr/>
        </p:nvGraphicFramePr>
        <p:xfrm>
          <a:off x="6903720" y="2148840"/>
          <a:ext cx="19202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8" name="Text 32"/>
          <p:cNvSpPr txBox="1"/>
          <p:nvPr/>
        </p:nvSpPr>
        <p:spPr>
          <a:xfrm>
            <a:off x="274320" y="4846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Painel ilustrativo (simulação de Power BI) | dados da RCA Jan–Ago/25 | Ryan Lobato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Ciclo de atualização: a cada 8 horas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0120" y="1188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Extração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RPA no PGR+ e scripts no PI e no SAP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Bronze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Dados brutos guardados por extração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188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ETL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Python, Polars e Pandas: limpeza, expurgo e de-para de TAG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188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Modelo Gold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Fatos, dimensões, KPIs e Pareto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1188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Power BI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Atualização dos painéis para a operação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40690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83280"/>
            <a:ext cx="64008" cy="1143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474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Acompanhamento normal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130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Carga em lote a cada 8 horas (3 ciclos por dia), sem processamento em tempo real.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383280"/>
            <a:ext cx="40690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383280"/>
            <a:ext cx="64008" cy="1143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3474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Autoria e alinhamento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8130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Métricas e Power BI desenvolvidos por Ryan Lobato; BI alinhado com Confiabilidade e Processos.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3"/>
                </a:solidFill>
              </a:rPr>
              <a:t>PROJETO CONCLUÍDO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Ryan Lobato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Inteligência de Negócios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Confiabilidade e Processos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Material ilustrativo para portfólio no GitHub, baseado na análise de falhas das Cortadeiras L1 e L2 (Projeto Cerrado, Jan–Ago/2025).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zano">
  <a:themeElements>
    <a:clrScheme name="Suzano">
      <a:dk1>
        <a:srgbClr val="262626"/>
      </a:dk1>
      <a:lt1>
        <a:srgbClr val="FFFFFF"/>
      </a:lt1>
      <a:dk2>
        <a:srgbClr val="04297A"/>
      </a:dk2>
      <a:lt2>
        <a:srgbClr val="E8F0FB"/>
      </a:lt2>
      <a:accent1>
        <a:srgbClr val="04297A"/>
      </a:accent1>
      <a:accent2>
        <a:srgbClr val="00C95F"/>
      </a:accent2>
      <a:accent3>
        <a:srgbClr val="00E5C0"/>
      </a:accent3>
      <a:accent4>
        <a:srgbClr val="0070DB"/>
      </a:accent4>
      <a:accent5>
        <a:srgbClr val="7F7F7F"/>
      </a:accent5>
      <a:accent6>
        <a:srgbClr val="C00000"/>
      </a:accent6>
      <a:hlink>
        <a:srgbClr val="0070DB"/>
      </a:hlink>
      <a:folHlink>
        <a:srgbClr val="7F7F7F"/>
      </a:folHlink>
    </a:clrScheme>
    <a:fontScheme name="Suzan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RCA Cortadeiras L1 e L2 – BI de Acompanhamento</dc:title>
  <dc:subject>PptxGenJS Presentation</dc:subject>
  <dc:creator>Ryan Lobato</dc:creator>
  <cp:lastModifiedBy>Ryan Lobato</cp:lastModifiedBy>
  <cp:revision>1</cp:revision>
  <dcterms:created xsi:type="dcterms:W3CDTF">2026-10-07T02:42:00Z</dcterms:created>
  <dcterms:modified xsi:type="dcterms:W3CDTF">2026-10-07T02:42:00Z</dcterms:modified>
</cp:coreProperties>
</file>